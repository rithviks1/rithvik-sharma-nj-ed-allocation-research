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1" d="100"/>
          <a:sy n="61" d="100"/>
        </p:scale>
        <p:origin x="21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thvik Sharma" userId="87ef432d2abbc2b7" providerId="LiveId" clId="{990F9B62-C2C4-4CA6-AACD-504428B55347}"/>
    <pc:docChg chg="undo custSel addSld delSld modSld">
      <pc:chgData name="Rithvik Sharma" userId="87ef432d2abbc2b7" providerId="LiveId" clId="{990F9B62-C2C4-4CA6-AACD-504428B55347}" dt="2026-09-17T01:35:59.793" v="203" actId="20577"/>
      <pc:docMkLst>
        <pc:docMk/>
      </pc:docMkLst>
      <pc:sldChg chg="modSp mod">
        <pc:chgData name="Rithvik Sharma" userId="87ef432d2abbc2b7" providerId="LiveId" clId="{990F9B62-C2C4-4CA6-AACD-504428B55347}" dt="2026-09-16T23:44:25.071" v="137" actId="20577"/>
        <pc:sldMkLst>
          <pc:docMk/>
          <pc:sldMk cId="0" sldId="257"/>
        </pc:sldMkLst>
        <pc:spChg chg="mod">
          <ac:chgData name="Rithvik Sharma" userId="87ef432d2abbc2b7" providerId="LiveId" clId="{990F9B62-C2C4-4CA6-AACD-504428B55347}" dt="2026-09-16T23:44:25.071" v="137" actId="20577"/>
          <ac:spMkLst>
            <pc:docMk/>
            <pc:sldMk cId="0" sldId="257"/>
            <ac:spMk id="10" creationId="{00000000-0000-0000-0000-000000000000}"/>
          </ac:spMkLst>
        </pc:spChg>
      </pc:sldChg>
      <pc:sldChg chg="modSp mod">
        <pc:chgData name="Rithvik Sharma" userId="87ef432d2abbc2b7" providerId="LiveId" clId="{990F9B62-C2C4-4CA6-AACD-504428B55347}" dt="2026-09-17T00:51:53.345" v="139" actId="1076"/>
        <pc:sldMkLst>
          <pc:docMk/>
          <pc:sldMk cId="0" sldId="260"/>
        </pc:sldMkLst>
        <pc:spChg chg="mod">
          <ac:chgData name="Rithvik Sharma" userId="87ef432d2abbc2b7" providerId="LiveId" clId="{990F9B62-C2C4-4CA6-AACD-504428B55347}" dt="2026-09-17T00:51:53.345" v="139" actId="1076"/>
          <ac:spMkLst>
            <pc:docMk/>
            <pc:sldMk cId="0" sldId="260"/>
            <ac:spMk id="87" creationId="{62FE2C52-8B89-1290-6F76-A59AE9B58272}"/>
          </ac:spMkLst>
        </pc:spChg>
      </pc:sldChg>
      <pc:sldChg chg="addSp delSp modSp mod">
        <pc:chgData name="Rithvik Sharma" userId="87ef432d2abbc2b7" providerId="LiveId" clId="{990F9B62-C2C4-4CA6-AACD-504428B55347}" dt="2026-09-17T00:56:52.230" v="190" actId="478"/>
        <pc:sldMkLst>
          <pc:docMk/>
          <pc:sldMk cId="0" sldId="261"/>
        </pc:sldMkLst>
        <pc:picChg chg="mod">
          <ac:chgData name="Rithvik Sharma" userId="87ef432d2abbc2b7" providerId="LiveId" clId="{990F9B62-C2C4-4CA6-AACD-504428B55347}" dt="2026-09-17T00:56:49.035" v="188" actId="1076"/>
          <ac:picMkLst>
            <pc:docMk/>
            <pc:sldMk cId="0" sldId="261"/>
            <ac:picMk id="8" creationId="{00000000-0000-0000-0000-000000000000}"/>
          </ac:picMkLst>
        </pc:picChg>
        <pc:picChg chg="add del mod">
          <ac:chgData name="Rithvik Sharma" userId="87ef432d2abbc2b7" providerId="LiveId" clId="{990F9B62-C2C4-4CA6-AACD-504428B55347}" dt="2026-09-17T00:56:48.517" v="187" actId="478"/>
          <ac:picMkLst>
            <pc:docMk/>
            <pc:sldMk cId="0" sldId="261"/>
            <ac:picMk id="14" creationId="{00000000-0000-0000-0000-000000000000}"/>
          </ac:picMkLst>
        </pc:picChg>
        <pc:picChg chg="add del mod">
          <ac:chgData name="Rithvik Sharma" userId="87ef432d2abbc2b7" providerId="LiveId" clId="{990F9B62-C2C4-4CA6-AACD-504428B55347}" dt="2026-09-17T00:56:52.230" v="190" actId="478"/>
          <ac:picMkLst>
            <pc:docMk/>
            <pc:sldMk cId="0" sldId="261"/>
            <ac:picMk id="23" creationId="{D9662A10-4029-D174-8948-9DF1820104E6}"/>
          </ac:picMkLst>
        </pc:picChg>
      </pc:sldChg>
      <pc:sldChg chg="add del">
        <pc:chgData name="Rithvik Sharma" userId="87ef432d2abbc2b7" providerId="LiveId" clId="{990F9B62-C2C4-4CA6-AACD-504428B55347}" dt="2026-09-17T01:06:08.196" v="193" actId="47"/>
        <pc:sldMkLst>
          <pc:docMk/>
          <pc:sldMk cId="0" sldId="262"/>
        </pc:sldMkLst>
      </pc:sldChg>
      <pc:sldChg chg="modSp mod">
        <pc:chgData name="Rithvik Sharma" userId="87ef432d2abbc2b7" providerId="LiveId" clId="{990F9B62-C2C4-4CA6-AACD-504428B55347}" dt="2026-09-17T01:35:59.793" v="203" actId="20577"/>
        <pc:sldMkLst>
          <pc:docMk/>
          <pc:sldMk cId="0" sldId="263"/>
        </pc:sldMkLst>
        <pc:spChg chg="mod">
          <ac:chgData name="Rithvik Sharma" userId="87ef432d2abbc2b7" providerId="LiveId" clId="{990F9B62-C2C4-4CA6-AACD-504428B55347}" dt="2026-09-17T01:35:59.793" v="203" actId="20577"/>
          <ac:spMkLst>
            <pc:docMk/>
            <pc:sldMk cId="0" sldId="263"/>
            <ac:spMk id="1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52000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afternoon. I'm Rithvik Sharma from the Academy of Mathematics, Science and Engineering. This work asks whether physician staffing — a quantity hospitals do not report — can be recovered from published wait times, and then reallocated under an equity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Crowding is a clinical harm with a measured mortality signal. The obstacle is that staffing is unobserved — so the research question is whether capacity can be recovered from wait times and then reallocated under an equity constraint.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Staffing is not reported, but wait times are. Since wait is a strictly decreasing function of staffing, that function can be inverted. Brent's method finds the unique root between the stability floor and c equals one thousand.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panel plots the wait curve for one facility; the rust line is the observed CMS wait and the intersection is the implied capacity. Twenty-two of twenty-five facilities converged; the three that did not are a diagnosis of the arrival-rate proxy, not a solver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baseline capacity recovered, the question is where to put additional physicians. A pure efficiency maximizer favors well-resourced facilities; the equity weight corrects for that, and the allocation self-balances because each added physician lowers that facility's next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Mean reduction is 41.3 minutes. The frontier is the substantive finding: moving alpha from zero to two shifts five points of budget toward vulnerable counties and costs one tenth of a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was achieved, what the model does not capture, and where it goes next. The largest open items are a time-varying service rate and a wage-constrained variant that makes headcount an output rather than an input.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Placeholder — the hospital-network application goes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Slides, code and the data-preparation notebooks are in the repository. Thank you — I'm glad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sv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ed-allocation-research.vercel.app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8288000" cy="5657850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71500" y="571500"/>
            <a:ext cx="533400" cy="5334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33400" y="571500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333500" y="704850"/>
            <a:ext cx="895871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43" dirty="0">
                <a:solidFill>
                  <a:srgbClr val="9FB9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1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71500" y="3255764"/>
            <a:ext cx="1634490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270" dirty="0">
                <a:solidFill>
                  <a:srgbClr val="9FB9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ASPIRE · MATHEMATICAL RESEARCH AND INNOVATIONS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71499" y="3760589"/>
            <a:ext cx="18043671" cy="1363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2353"/>
              </a:lnSpc>
              <a:buNone/>
            </a:pPr>
            <a:r>
              <a:rPr lang="en-US" sz="4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Solving for Optimal Staffing: An Inverse Queuing Approach to Equity-Weighted Physician Allocation Across New Jersey EDs</a:t>
            </a:r>
            <a:endParaRPr lang="en-US" sz="4500" dirty="0"/>
          </a:p>
        </p:txBody>
      </p:sp>
      <p:sp>
        <p:nvSpPr>
          <p:cNvPr id="8" name="Text 6"/>
          <p:cNvSpPr/>
          <p:nvPr/>
        </p:nvSpPr>
        <p:spPr>
          <a:xfrm>
            <a:off x="571500" y="6229350"/>
            <a:ext cx="1885950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Rithvik Sharma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571500" y="6819900"/>
            <a:ext cx="18859500" cy="3762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Academy of Mathematics, Science, &amp; Engineering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571500" y="7253288"/>
            <a:ext cx="1885950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Mentor: Professor Padhu Seshaiyer, George Mason University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71500" y="7662863"/>
            <a:ext cx="18859500" cy="3524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ASPIRE — Mathematical Research and Innovations · August 2026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71500" y="9339263"/>
            <a:ext cx="171450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71500" y="9482138"/>
            <a:ext cx="4252473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ASPIRE · Mathematical Research and Innovations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7628989" y="9482138"/>
            <a:ext cx="163711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" y="571500"/>
            <a:ext cx="533400" cy="533400"/>
          </a:xfrm>
          <a:prstGeom prst="ellipse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33400" y="571500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333500" y="571500"/>
            <a:ext cx="7810500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6800"/>
              </a:lnSpc>
              <a:buNone/>
            </a:pPr>
            <a:r>
              <a:rPr lang="en-US" sz="330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Motivation and Research Question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333500" y="1070595"/>
            <a:ext cx="6769775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43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2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71500" y="2226231"/>
            <a:ext cx="6180006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SDG 3 — GOOD HEALTH AND WELL-BEING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571500" y="2478643"/>
            <a:ext cx="5786733" cy="59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500"/>
              </a:lnSpc>
              <a:buNone/>
            </a:pPr>
            <a:r>
              <a:rPr lang="en-US" sz="157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Emergency department crowding is a measurable clinical harm, not merely an operational inefficiency.</a:t>
            </a:r>
            <a:endParaRPr lang="en-US" sz="1575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162491" y="1759714"/>
            <a:ext cx="1238250" cy="123825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33400" y="3426143"/>
            <a:ext cx="7709721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125" dirty="0"/>
          </a:p>
        </p:txBody>
      </p:sp>
      <p:sp>
        <p:nvSpPr>
          <p:cNvPr id="10" name="Text 7"/>
          <p:cNvSpPr/>
          <p:nvPr/>
        </p:nvSpPr>
        <p:spPr>
          <a:xfrm>
            <a:off x="533400" y="3678555"/>
            <a:ext cx="7219102" cy="14382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500"/>
              </a:lnSpc>
              <a:buNone/>
            </a:pPr>
            <a:r>
              <a:rPr lang="en-US" sz="157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Existing allocation models treat each hospital in a network without a significant consideration for the socioeconomic conditions of the communities each hospital serves. Because marginal returns on an added physician are highest at well-resourced facilities, capacity concentrates there while hospitals in higher-vulnerability counties fall further behind.</a:t>
            </a:r>
            <a:endParaRPr lang="en-US" sz="1575" dirty="0"/>
          </a:p>
        </p:txBody>
      </p:sp>
      <p:sp>
        <p:nvSpPr>
          <p:cNvPr id="11" name="Text 8"/>
          <p:cNvSpPr/>
          <p:nvPr/>
        </p:nvSpPr>
        <p:spPr>
          <a:xfrm>
            <a:off x="571500" y="5459894"/>
            <a:ext cx="7709721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HIDDEN OBSTACLE</a:t>
            </a:r>
            <a:endParaRPr lang="en-US" sz="1125" dirty="0"/>
          </a:p>
        </p:txBody>
      </p:sp>
      <p:sp>
        <p:nvSpPr>
          <p:cNvPr id="12" name="Text 9"/>
          <p:cNvSpPr/>
          <p:nvPr/>
        </p:nvSpPr>
        <p:spPr>
          <a:xfrm>
            <a:off x="571500" y="5712306"/>
            <a:ext cx="7219102" cy="5375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953"/>
              </a:lnSpc>
              <a:buNone/>
            </a:pPr>
            <a:r>
              <a:rPr lang="en-US" sz="14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Physician staffing levels are not publicly reported. You cannot optimize what you cannot observe.</a:t>
            </a:r>
            <a:endParaRPr lang="en-US" sz="1425" dirty="0"/>
          </a:p>
        </p:txBody>
      </p:sp>
      <p:sp>
        <p:nvSpPr>
          <p:cNvPr id="13" name="Shape 10"/>
          <p:cNvSpPr/>
          <p:nvPr/>
        </p:nvSpPr>
        <p:spPr>
          <a:xfrm>
            <a:off x="571500" y="6739562"/>
            <a:ext cx="7008837" cy="1553395"/>
          </a:xfrm>
          <a:prstGeom prst="rect">
            <a:avLst/>
          </a:prstGeom>
          <a:solidFill>
            <a:srgbClr val="F4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571500" y="6739563"/>
            <a:ext cx="57150" cy="1553394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57250" y="6930063"/>
            <a:ext cx="7143936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b="1" u="sng" kern="0" spc="180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</a:t>
            </a:r>
            <a:endParaRPr lang="en-US" sz="1200" b="1" u="sng" dirty="0"/>
          </a:p>
        </p:txBody>
      </p:sp>
      <p:sp>
        <p:nvSpPr>
          <p:cNvPr id="16" name="Text 13"/>
          <p:cNvSpPr/>
          <p:nvPr/>
        </p:nvSpPr>
        <p:spPr>
          <a:xfrm>
            <a:off x="836390" y="7249150"/>
            <a:ext cx="6689322" cy="9580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23846"/>
              </a:lnSpc>
              <a:buNone/>
            </a:pPr>
            <a:r>
              <a:rPr lang="en-US" sz="1725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 implied physician capacity be recovered from public wait-time data, and can that capacity be reallocated under an equity constraint without materially sacrificing aggregate efficiency?</a:t>
            </a:r>
            <a:endParaRPr lang="en-US" sz="1725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520261" y="1513508"/>
            <a:ext cx="8713440" cy="7275165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037537" y="8903047"/>
            <a:ext cx="10646859" cy="2647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5263"/>
              </a:lnSpc>
              <a:buNone/>
            </a:pPr>
            <a:r>
              <a:rPr lang="en-US" sz="1275" i="1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Baselines are not comparable across cohorts; populations differ. Association, not causation.</a:t>
            </a:r>
            <a:endParaRPr lang="en-US" sz="1275" dirty="0"/>
          </a:p>
        </p:txBody>
      </p:sp>
      <p:sp>
        <p:nvSpPr>
          <p:cNvPr id="19" name="Shape 15"/>
          <p:cNvSpPr/>
          <p:nvPr/>
        </p:nvSpPr>
        <p:spPr>
          <a:xfrm>
            <a:off x="571500" y="9339263"/>
            <a:ext cx="171450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571500" y="9482138"/>
            <a:ext cx="4252473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ASPIRE · Mathematical Research and Innovations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17628989" y="9482138"/>
            <a:ext cx="163711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" y="571500"/>
            <a:ext cx="533400" cy="533400"/>
          </a:xfrm>
          <a:prstGeom prst="ellipse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33400" y="571500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333500" y="571500"/>
            <a:ext cx="9026904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6800"/>
              </a:lnSpc>
              <a:buNone/>
            </a:pPr>
            <a:r>
              <a:rPr lang="en-US" sz="330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1: Recovering Implied Capacity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333500" y="1070595"/>
            <a:ext cx="7096132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43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3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71500" y="1456358"/>
            <a:ext cx="17145000" cy="495300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14325" y="1456358"/>
            <a:ext cx="176593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kern="0" spc="132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1 — The Inverse Problem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571500" y="2104058"/>
            <a:ext cx="8269236" cy="5375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953"/>
              </a:lnSpc>
              <a:buNone/>
            </a:pPr>
            <a:r>
              <a:rPr lang="en-US" sz="14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Physician staffing levels are not publicly reported. But wait times are. If wait time is a known function of staffing, that function can be inverted.</a:t>
            </a:r>
            <a:endParaRPr lang="en-US" sz="1425" dirty="0"/>
          </a:p>
        </p:txBody>
      </p:sp>
      <p:sp>
        <p:nvSpPr>
          <p:cNvPr id="9" name="Shape 7"/>
          <p:cNvSpPr/>
          <p:nvPr/>
        </p:nvSpPr>
        <p:spPr>
          <a:xfrm>
            <a:off x="571500" y="2755925"/>
            <a:ext cx="1409700" cy="295275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04850" y="2813075"/>
            <a:ext cx="121920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spc="126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SYMBOL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981200" y="2755925"/>
            <a:ext cx="4161234" cy="295275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114550" y="2813075"/>
            <a:ext cx="401937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spc="126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42434" y="2755925"/>
            <a:ext cx="2457450" cy="295275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75784" y="2813075"/>
            <a:ext cx="226695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spc="126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OR VALUE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" y="3375050"/>
            <a:ext cx="14097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04850" y="3098825"/>
            <a:ext cx="12192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1981200" y="3375050"/>
            <a:ext cx="4161234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114550" y="3098825"/>
            <a:ext cx="401937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Arrival rate at the facility (patients/hr)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42434" y="3375050"/>
            <a:ext cx="245745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75784" y="3098825"/>
            <a:ext cx="226695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Derived — see chain below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71500" y="3713187"/>
            <a:ext cx="14097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04850" y="3432200"/>
            <a:ext cx="121920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μ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1981200" y="3713187"/>
            <a:ext cx="4161234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114550" y="3432200"/>
            <a:ext cx="4019371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Service rate per physician (patients/hr)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42434" y="3713187"/>
            <a:ext cx="245745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275784" y="3432200"/>
            <a:ext cx="226695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2.55 (EDBA; Augustine 2017)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71500" y="3722712"/>
            <a:ext cx="8028384" cy="342900"/>
          </a:xfrm>
          <a:prstGeom prst="rect">
            <a:avLst/>
          </a:prstGeom>
          <a:solidFill>
            <a:srgbClr val="F4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71500" y="4056087"/>
            <a:ext cx="14097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04850" y="3779862"/>
            <a:ext cx="121920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lnSpcReduction="1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1981200" y="4056087"/>
            <a:ext cx="4161234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2114550" y="3779862"/>
            <a:ext cx="4019371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Physicians on duty in parallel</a:t>
            </a:r>
            <a:endParaRPr lang="en-US" sz="1275" dirty="0"/>
          </a:p>
        </p:txBody>
      </p:sp>
      <p:sp>
        <p:nvSpPr>
          <p:cNvPr id="32" name="Shape 30"/>
          <p:cNvSpPr/>
          <p:nvPr/>
        </p:nvSpPr>
        <p:spPr>
          <a:xfrm>
            <a:off x="6142434" y="4056087"/>
            <a:ext cx="245745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275784" y="3779862"/>
            <a:ext cx="226695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UNKNOWN — solved for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71500" y="4394225"/>
            <a:ext cx="14097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04850" y="4113237"/>
            <a:ext cx="121920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= λ/μ</a:t>
            </a:r>
            <a:endParaRPr lang="en-US" sz="1350" dirty="0"/>
          </a:p>
        </p:txBody>
      </p:sp>
      <p:sp>
        <p:nvSpPr>
          <p:cNvPr id="36" name="Shape 34"/>
          <p:cNvSpPr/>
          <p:nvPr/>
        </p:nvSpPr>
        <p:spPr>
          <a:xfrm>
            <a:off x="1981200" y="4394225"/>
            <a:ext cx="4161234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2114550" y="4113237"/>
            <a:ext cx="4019371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Offered load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142434" y="4394225"/>
            <a:ext cx="245745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275784" y="4113237"/>
            <a:ext cx="226695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Derived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571500" y="4732362"/>
            <a:ext cx="14097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04850" y="4451375"/>
            <a:ext cx="121920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ρ = A/c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1981200" y="4732362"/>
            <a:ext cx="4161234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114550" y="4451375"/>
            <a:ext cx="4019371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Utilization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6142434" y="4732362"/>
            <a:ext cx="245745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6275784" y="4451375"/>
            <a:ext cx="226695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Derived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571500" y="5070500"/>
            <a:ext cx="14097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704850" y="4789512"/>
            <a:ext cx="121920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P(W)</a:t>
            </a:r>
            <a:endParaRPr lang="en-US" sz="1350" dirty="0"/>
          </a:p>
        </p:txBody>
      </p:sp>
      <p:sp>
        <p:nvSpPr>
          <p:cNvPr id="48" name="Shape 46"/>
          <p:cNvSpPr/>
          <p:nvPr/>
        </p:nvSpPr>
        <p:spPr>
          <a:xfrm>
            <a:off x="1981200" y="5070500"/>
            <a:ext cx="4161234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2114550" y="4789512"/>
            <a:ext cx="4019371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Probability an arrival must wait (Erlang C)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142434" y="5070500"/>
            <a:ext cx="245745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275784" y="4789512"/>
            <a:ext cx="226695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571500" y="5408637"/>
            <a:ext cx="14097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704850" y="5127650"/>
            <a:ext cx="121920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Wq(c)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1981200" y="5408637"/>
            <a:ext cx="4161234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2114550" y="5127650"/>
            <a:ext cx="4019371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Expected queue wait (hours)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6142434" y="5408637"/>
            <a:ext cx="245745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6275784" y="5127650"/>
            <a:ext cx="226695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output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571500" y="5746775"/>
            <a:ext cx="14097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704850" y="5465787"/>
            <a:ext cx="121920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Wq_obs</a:t>
            </a:r>
            <a:endParaRPr lang="en-US" sz="1350" dirty="0"/>
          </a:p>
        </p:txBody>
      </p:sp>
      <p:sp>
        <p:nvSpPr>
          <p:cNvPr id="60" name="Shape 58"/>
          <p:cNvSpPr/>
          <p:nvPr/>
        </p:nvSpPr>
        <p:spPr>
          <a:xfrm>
            <a:off x="1981200" y="5746775"/>
            <a:ext cx="4161234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2114550" y="5465787"/>
            <a:ext cx="4019371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Observed median ED wait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142434" y="5746775"/>
            <a:ext cx="245745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6275784" y="5465787"/>
            <a:ext cx="226695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CMS OP_18b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571500" y="6256846"/>
            <a:ext cx="8028384" cy="1428824"/>
          </a:xfrm>
          <a:prstGeom prst="rect">
            <a:avLst/>
          </a:prstGeom>
          <a:solidFill>
            <a:srgbClr val="F4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571500" y="6249022"/>
            <a:ext cx="57150" cy="1428824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727892" y="6334170"/>
            <a:ext cx="8307348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b="1" u="sng" kern="0" spc="180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INVERSION</a:t>
            </a:r>
            <a:endParaRPr lang="en-US" sz="1200" b="1" u="sng" dirty="0"/>
          </a:p>
        </p:txBody>
      </p:sp>
      <p:pic>
        <p:nvPicPr>
          <p:cNvPr id="67" name="Image 0" descr="preencoded.png"/>
          <p:cNvPicPr>
            <a:picLocks noChangeAspect="1"/>
          </p:cNvPicPr>
          <p:nvPr/>
        </p:nvPicPr>
        <p:blipFill>
          <a:blip r:embed="rId3"/>
          <a:srcRect l="20878" t="1" r="19896" b="-1"/>
          <a:stretch>
            <a:fillRect/>
          </a:stretch>
        </p:blipFill>
        <p:spPr>
          <a:xfrm>
            <a:off x="1864652" y="6634207"/>
            <a:ext cx="5499229" cy="790576"/>
          </a:xfrm>
          <a:prstGeom prst="rect">
            <a:avLst/>
          </a:prstGeom>
        </p:spPr>
      </p:pic>
      <p:sp>
        <p:nvSpPr>
          <p:cNvPr id="68" name="Text 65"/>
          <p:cNvSpPr/>
          <p:nvPr/>
        </p:nvSpPr>
        <p:spPr>
          <a:xfrm>
            <a:off x="571500" y="7863359"/>
            <a:ext cx="8831223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b="1" kern="0" spc="180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 DERIVATION CHAIN</a:t>
            </a:r>
            <a:endParaRPr lang="en-US" sz="1125" b="1" dirty="0"/>
          </a:p>
        </p:txBody>
      </p:sp>
      <p:sp>
        <p:nvSpPr>
          <p:cNvPr id="69" name="Shape 66"/>
          <p:cNvSpPr/>
          <p:nvPr/>
        </p:nvSpPr>
        <p:spPr>
          <a:xfrm>
            <a:off x="571500" y="8272141"/>
            <a:ext cx="1926729" cy="525393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7"/>
          <p:cNvSpPr/>
          <p:nvPr/>
        </p:nvSpPr>
        <p:spPr>
          <a:xfrm>
            <a:off x="571500" y="8332719"/>
            <a:ext cx="1888629" cy="363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lnSpc>
                <a:spcPct val="106750"/>
              </a:lnSpc>
              <a:buNone/>
            </a:pPr>
            <a:r>
              <a:rPr lang="en-US" sz="1200" dirty="0">
                <a:solidFill>
                  <a:srgbClr val="FFFFFF"/>
                </a:solidFill>
                <a:highlight>
                  <a:srgbClr val="073763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NJSHAD county ED visits, 2024</a:t>
            </a:r>
            <a:endParaRPr lang="en-US" sz="1200" dirty="0"/>
          </a:p>
        </p:txBody>
      </p:sp>
      <p:sp>
        <p:nvSpPr>
          <p:cNvPr id="71" name="Text 68"/>
          <p:cNvSpPr/>
          <p:nvPr/>
        </p:nvSpPr>
        <p:spPr>
          <a:xfrm>
            <a:off x="2593479" y="8422934"/>
            <a:ext cx="28575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650" dirty="0"/>
          </a:p>
        </p:txBody>
      </p:sp>
      <p:sp>
        <p:nvSpPr>
          <p:cNvPr id="72" name="Shape 69"/>
          <p:cNvSpPr/>
          <p:nvPr/>
        </p:nvSpPr>
        <p:spPr>
          <a:xfrm>
            <a:off x="2898279" y="8338846"/>
            <a:ext cx="1926803" cy="458688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3" name="Text 70"/>
          <p:cNvSpPr/>
          <p:nvPr/>
        </p:nvSpPr>
        <p:spPr>
          <a:xfrm>
            <a:off x="2917328" y="8453496"/>
            <a:ext cx="1888703" cy="363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06750"/>
              </a:lnSpc>
              <a:buNone/>
            </a:pPr>
            <a:r>
              <a:rPr lang="en-US" sz="1200" dirty="0">
                <a:solidFill>
                  <a:srgbClr val="FFFFFF"/>
                </a:solidFill>
                <a:highlight>
                  <a:srgbClr val="073763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× HCRIS 2023 bed share</a:t>
            </a:r>
            <a:endParaRPr lang="en-US" sz="1200" dirty="0"/>
          </a:p>
        </p:txBody>
      </p:sp>
      <p:sp>
        <p:nvSpPr>
          <p:cNvPr id="74" name="Text 71"/>
          <p:cNvSpPr/>
          <p:nvPr/>
        </p:nvSpPr>
        <p:spPr>
          <a:xfrm>
            <a:off x="4920332" y="8422934"/>
            <a:ext cx="28575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650" dirty="0"/>
          </a:p>
        </p:txBody>
      </p:sp>
      <p:sp>
        <p:nvSpPr>
          <p:cNvPr id="75" name="Shape 72"/>
          <p:cNvSpPr/>
          <p:nvPr/>
        </p:nvSpPr>
        <p:spPr>
          <a:xfrm>
            <a:off x="5225132" y="8420181"/>
            <a:ext cx="1926729" cy="296019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6" name="Text 73"/>
          <p:cNvSpPr/>
          <p:nvPr/>
        </p:nvSpPr>
        <p:spPr>
          <a:xfrm>
            <a:off x="5244182" y="8445185"/>
            <a:ext cx="1888629" cy="2007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ctr">
              <a:lnSpc>
                <a:spcPct val="10675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÷ 8,760 hrs</a:t>
            </a:r>
            <a:endParaRPr lang="en-US" sz="1200" dirty="0"/>
          </a:p>
        </p:txBody>
      </p:sp>
      <p:sp>
        <p:nvSpPr>
          <p:cNvPr id="77" name="Text 74"/>
          <p:cNvSpPr/>
          <p:nvPr/>
        </p:nvSpPr>
        <p:spPr>
          <a:xfrm>
            <a:off x="7247111" y="8422934"/>
            <a:ext cx="285750" cy="3286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650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1650" dirty="0"/>
          </a:p>
        </p:txBody>
      </p:sp>
      <p:sp>
        <p:nvSpPr>
          <p:cNvPr id="78" name="Text 75"/>
          <p:cNvSpPr/>
          <p:nvPr/>
        </p:nvSpPr>
        <p:spPr>
          <a:xfrm>
            <a:off x="7551911" y="8422934"/>
            <a:ext cx="1124173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425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 per facility</a:t>
            </a:r>
            <a:endParaRPr lang="en-US" sz="1425" dirty="0"/>
          </a:p>
        </p:txBody>
      </p:sp>
      <p:sp>
        <p:nvSpPr>
          <p:cNvPr id="79" name="Text 76"/>
          <p:cNvSpPr/>
          <p:nvPr/>
        </p:nvSpPr>
        <p:spPr>
          <a:xfrm>
            <a:off x="571500" y="8927254"/>
            <a:ext cx="8831223" cy="2323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6571"/>
              </a:lnSpc>
              <a:buNone/>
            </a:pPr>
            <a:r>
              <a:rPr lang="en-US" sz="1125" i="1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Facility-level ED volume is not published, so county volume is disaggregated in proportion to licensed beds.</a:t>
            </a:r>
            <a:endParaRPr lang="en-US" sz="1125" dirty="0"/>
          </a:p>
        </p:txBody>
      </p:sp>
      <p:sp>
        <p:nvSpPr>
          <p:cNvPr id="80" name="Text 77"/>
          <p:cNvSpPr/>
          <p:nvPr/>
        </p:nvSpPr>
        <p:spPr>
          <a:xfrm>
            <a:off x="9018984" y="2104058"/>
            <a:ext cx="9567267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FORWARD MODEL</a:t>
            </a:r>
            <a:endParaRPr lang="en-US" sz="1125" dirty="0"/>
          </a:p>
        </p:txBody>
      </p:sp>
      <p:sp>
        <p:nvSpPr>
          <p:cNvPr id="81" name="Text 78"/>
          <p:cNvSpPr/>
          <p:nvPr/>
        </p:nvSpPr>
        <p:spPr>
          <a:xfrm>
            <a:off x="8942784" y="2664916"/>
            <a:ext cx="1030932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125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Offered load, utilization</a:t>
            </a:r>
            <a:endParaRPr lang="en-US" sz="1125" dirty="0"/>
          </a:p>
        </p:txBody>
      </p:sp>
      <p:pic>
        <p:nvPicPr>
          <p:cNvPr id="8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21367" y="2613645"/>
            <a:ext cx="7495133" cy="493068"/>
          </a:xfrm>
          <a:prstGeom prst="rect">
            <a:avLst/>
          </a:prstGeom>
        </p:spPr>
      </p:pic>
      <p:sp>
        <p:nvSpPr>
          <p:cNvPr id="83" name="Text 79"/>
          <p:cNvSpPr/>
          <p:nvPr/>
        </p:nvSpPr>
        <p:spPr>
          <a:xfrm>
            <a:off x="8942784" y="3757092"/>
            <a:ext cx="1030932" cy="623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125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Erlang C — probability an arrival waits</a:t>
            </a:r>
            <a:endParaRPr lang="en-US" sz="1125" dirty="0"/>
          </a:p>
        </p:txBody>
      </p:sp>
      <p:pic>
        <p:nvPicPr>
          <p:cNvPr id="8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21367" y="3478188"/>
            <a:ext cx="7495133" cy="1143670"/>
          </a:xfrm>
          <a:prstGeom prst="rect">
            <a:avLst/>
          </a:prstGeom>
        </p:spPr>
      </p:pic>
      <p:sp>
        <p:nvSpPr>
          <p:cNvPr id="85" name="Text 80"/>
          <p:cNvSpPr/>
          <p:nvPr/>
        </p:nvSpPr>
        <p:spPr>
          <a:xfrm>
            <a:off x="8942784" y="5050706"/>
            <a:ext cx="1030932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125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Expected queue wait</a:t>
            </a:r>
            <a:endParaRPr lang="en-US" sz="1125" dirty="0"/>
          </a:p>
        </p:txBody>
      </p:sp>
      <p:pic>
        <p:nvPicPr>
          <p:cNvPr id="8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1367" y="4993332"/>
            <a:ext cx="7495133" cy="505271"/>
          </a:xfrm>
          <a:prstGeom prst="rect">
            <a:avLst/>
          </a:prstGeom>
        </p:spPr>
      </p:pic>
      <p:sp>
        <p:nvSpPr>
          <p:cNvPr id="87" name="Shape 81"/>
          <p:cNvSpPr/>
          <p:nvPr/>
        </p:nvSpPr>
        <p:spPr>
          <a:xfrm>
            <a:off x="9018984" y="5812929"/>
            <a:ext cx="8697516" cy="333375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8" name="Text 82"/>
          <p:cNvSpPr/>
          <p:nvPr/>
        </p:nvSpPr>
        <p:spPr>
          <a:xfrm>
            <a:off x="9171384" y="5889129"/>
            <a:ext cx="865364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scipy.optimize.brentq</a:t>
            </a:r>
            <a:endParaRPr lang="en-US" sz="1275" dirty="0"/>
          </a:p>
        </p:txBody>
      </p:sp>
      <p:sp>
        <p:nvSpPr>
          <p:cNvPr id="89" name="Shape 83"/>
          <p:cNvSpPr/>
          <p:nvPr/>
        </p:nvSpPr>
        <p:spPr>
          <a:xfrm>
            <a:off x="9018984" y="6279654"/>
            <a:ext cx="8697516" cy="2457152"/>
          </a:xfrm>
          <a:prstGeom prst="rect">
            <a:avLst/>
          </a:prstGeom>
          <a:solidFill>
            <a:srgbClr val="F4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0" name="Text 84"/>
          <p:cNvSpPr/>
          <p:nvPr/>
        </p:nvSpPr>
        <p:spPr>
          <a:xfrm>
            <a:off x="9190434" y="6413004"/>
            <a:ext cx="8615541" cy="2228552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77500" lnSpcReduction="20000"/>
          </a:bodyPr>
          <a:lstStyle/>
          <a:p>
            <a:pPr marL="0" indent="0" algn="l">
              <a:lnSpc>
                <a:spcPct val="122839"/>
              </a:lnSpc>
              <a:buNone/>
            </a:pPr>
            <a:r>
              <a:rPr lang="en-US" sz="1050" dirty="0">
                <a:solidFill>
                  <a:srgbClr val="0B6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solve_implied_c(lam, wq_obs, mu):</a:t>
            </a:r>
            <a:endParaRPr lang="en-US" sz="1050" dirty="0"/>
          </a:p>
          <a:p>
            <a:pPr marL="0" indent="0" algn="l">
              <a:lnSpc>
                <a:spcPct val="122839"/>
              </a:lnSpc>
              <a:buNone/>
            </a:pP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050" dirty="0"/>
          </a:p>
          <a:p>
            <a:pPr marL="0" indent="0" algn="l">
              <a:lnSpc>
                <a:spcPct val="122839"/>
              </a:lnSpc>
              <a:buNone/>
            </a:pPr>
            <a:r>
              <a:rPr lang="en-US" sz="1050" dirty="0">
                <a:solidFill>
                  <a:srgbClr val="0B6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objective(c):</a:t>
            </a:r>
            <a:endParaRPr lang="en-US" sz="1050" dirty="0"/>
          </a:p>
          <a:p>
            <a:pPr marL="0" indent="0" algn="l">
              <a:lnSpc>
                <a:spcPct val="122839"/>
              </a:lnSpc>
              <a:buNone/>
            </a:pP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endParaRPr lang="en-US" sz="1050" dirty="0"/>
          </a:p>
          <a:p>
            <a:pPr marL="0" indent="0" algn="l">
              <a:lnSpc>
                <a:spcPct val="122839"/>
              </a:lnSpc>
              <a:buNone/>
            </a:pPr>
            <a:r>
              <a:rPr lang="en-US" sz="1050" dirty="0">
                <a:solidFill>
                  <a:srgbClr val="0B6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 &lt;= lam / mu:</a:t>
            </a:r>
            <a:endParaRPr lang="en-US" sz="1050" dirty="0"/>
          </a:p>
          <a:p>
            <a:pPr marL="0" indent="0" algn="l">
              <a:lnSpc>
                <a:spcPct val="122839"/>
              </a:lnSpc>
              <a:buNone/>
            </a:pP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</a:t>
            </a:r>
            <a:endParaRPr lang="en-US" sz="1050" dirty="0"/>
          </a:p>
          <a:p>
            <a:pPr marL="0" indent="0" algn="l">
              <a:lnSpc>
                <a:spcPct val="122839"/>
              </a:lnSpc>
              <a:buNone/>
            </a:pPr>
            <a:r>
              <a:rPr lang="en-US" sz="1050" dirty="0">
                <a:solidFill>
                  <a:srgbClr val="0B6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050" dirty="0">
                <a:solidFill>
                  <a:srgbClr val="A35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1e9 </a:t>
            </a: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rho, L = lam / (c * mu), lam / mu</a:t>
            </a:r>
            <a:endParaRPr lang="en-US" sz="1050" dirty="0"/>
          </a:p>
          <a:p>
            <a:pPr marL="0" indent="0" algn="l">
              <a:lnSpc>
                <a:spcPct val="122839"/>
              </a:lnSpc>
              <a:buNone/>
            </a:pP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endParaRPr lang="en-US" sz="1050" dirty="0"/>
          </a:p>
          <a:p>
            <a:pPr marL="0" indent="0" algn="l">
              <a:lnSpc>
                <a:spcPct val="122839"/>
              </a:lnSpc>
              <a:buNone/>
            </a:pPr>
            <a:r>
              <a:rPr lang="en-US" sz="1050" i="1" dirty="0">
                <a:solidFill>
                  <a:srgbClr val="7D8A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log-space Erlang C: factorials overflow at realistic lambda </a:t>
            </a: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term2 = np.exp(c * np.log(L) - gammaln(c + </a:t>
            </a:r>
            <a:r>
              <a:rPr lang="en-US" sz="1050" dirty="0">
                <a:solidFill>
                  <a:srgbClr val="A35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 np.log(</a:t>
            </a:r>
            <a:r>
              <a:rPr lang="en-US" sz="1050" dirty="0">
                <a:solidFill>
                  <a:srgbClr val="A35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 rho))</a:t>
            </a:r>
            <a:endParaRPr lang="en-US" sz="1050" dirty="0"/>
          </a:p>
          <a:p>
            <a:pPr marL="0" indent="0" algn="l">
              <a:lnSpc>
                <a:spcPct val="122839"/>
              </a:lnSpc>
              <a:buNone/>
            </a:pP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term1 = np.exp(L) * pdtr( </a:t>
            </a:r>
            <a:endParaRPr lang="en-US" sz="1050" dirty="0"/>
          </a:p>
          <a:p>
            <a:pPr marL="0" indent="0" algn="l">
              <a:lnSpc>
                <a:spcPct val="122839"/>
              </a:lnSpc>
              <a:buNone/>
            </a:pPr>
            <a:r>
              <a:rPr lang="en-US" sz="1050" dirty="0">
                <a:solidFill>
                  <a:srgbClr val="0B6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(np.floor(c)) - </a:t>
            </a:r>
            <a:r>
              <a:rPr lang="en-US" sz="1050" dirty="0">
                <a:solidFill>
                  <a:srgbClr val="A35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L)</a:t>
            </a:r>
            <a:endParaRPr lang="en-US" sz="1050" dirty="0"/>
          </a:p>
          <a:p>
            <a:pPr marL="0" indent="0" algn="l">
              <a:lnSpc>
                <a:spcPct val="122839"/>
              </a:lnSpc>
              <a:buNone/>
            </a:pP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p_wait = term2 / (term1 + term2)</a:t>
            </a:r>
            <a:endParaRPr lang="en-US" sz="1050" dirty="0"/>
          </a:p>
          <a:p>
            <a:pPr marL="0" indent="0" algn="l">
              <a:lnSpc>
                <a:spcPct val="122839"/>
              </a:lnSpc>
              <a:buNone/>
            </a:pP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</a:t>
            </a:r>
            <a:endParaRPr lang="en-US" sz="1050" dirty="0"/>
          </a:p>
          <a:p>
            <a:pPr marL="0" indent="0" algn="l">
              <a:lnSpc>
                <a:spcPct val="122839"/>
              </a:lnSpc>
              <a:buNone/>
            </a:pPr>
            <a:r>
              <a:rPr lang="en-US" sz="1050" dirty="0">
                <a:solidFill>
                  <a:srgbClr val="0B6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p_wait / (c * mu - lam) - wq_obs</a:t>
            </a:r>
            <a:endParaRPr lang="en-US" sz="1050" dirty="0"/>
          </a:p>
          <a:p>
            <a:pPr marL="0" indent="0" algn="l">
              <a:lnSpc>
                <a:spcPct val="122839"/>
              </a:lnSpc>
              <a:buNone/>
            </a:pPr>
            <a:endParaRPr lang="en-US" sz="1050" dirty="0"/>
          </a:p>
          <a:p>
            <a:pPr marL="0" indent="0" algn="l">
              <a:lnSpc>
                <a:spcPct val="122839"/>
              </a:lnSpc>
              <a:buNone/>
            </a:pP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endParaRPr lang="en-US" sz="1050" dirty="0"/>
          </a:p>
          <a:p>
            <a:pPr marL="0" indent="0" algn="l">
              <a:lnSpc>
                <a:spcPct val="122839"/>
              </a:lnSpc>
              <a:buNone/>
            </a:pPr>
            <a:r>
              <a:rPr lang="en-US" sz="1050" dirty="0">
                <a:solidFill>
                  <a:srgbClr val="0B6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brentq(objective, lam / mu + </a:t>
            </a:r>
            <a:r>
              <a:rPr lang="en-US" sz="1050" dirty="0">
                <a:solidFill>
                  <a:srgbClr val="A35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0.01</a:t>
            </a: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050" dirty="0">
                <a:solidFill>
                  <a:srgbClr val="A35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1000.0</a:t>
            </a: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</p:txBody>
      </p:sp>
      <p:sp>
        <p:nvSpPr>
          <p:cNvPr id="91" name="Text 85"/>
          <p:cNvSpPr/>
          <p:nvPr/>
        </p:nvSpPr>
        <p:spPr>
          <a:xfrm>
            <a:off x="9018984" y="8870156"/>
            <a:ext cx="8958441" cy="4266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6571"/>
              </a:lnSpc>
              <a:buNone/>
            </a:pPr>
            <a:r>
              <a:rPr lang="en-US" sz="1125" i="1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Search bracket runs from the stability floor λ/μ to c = 1000. Erlang C is evaluated in log space using gammaln and the Poisson CDF; direct factorial evaluation overflows at realistic arrival rates.</a:t>
            </a:r>
            <a:endParaRPr lang="en-US" sz="1125" dirty="0"/>
          </a:p>
        </p:txBody>
      </p:sp>
      <p:sp>
        <p:nvSpPr>
          <p:cNvPr id="92" name="Shape 86"/>
          <p:cNvSpPr/>
          <p:nvPr/>
        </p:nvSpPr>
        <p:spPr>
          <a:xfrm>
            <a:off x="571500" y="9339263"/>
            <a:ext cx="171450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3" name="Text 87"/>
          <p:cNvSpPr/>
          <p:nvPr/>
        </p:nvSpPr>
        <p:spPr>
          <a:xfrm>
            <a:off x="571500" y="9482138"/>
            <a:ext cx="4252473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ASPIRE · Mathematical Research and Innovations</a:t>
            </a:r>
            <a:endParaRPr lang="en-US" sz="1350" dirty="0"/>
          </a:p>
        </p:txBody>
      </p:sp>
      <p:sp>
        <p:nvSpPr>
          <p:cNvPr id="94" name="Text 88"/>
          <p:cNvSpPr/>
          <p:nvPr/>
        </p:nvSpPr>
        <p:spPr>
          <a:xfrm>
            <a:off x="17628989" y="9482138"/>
            <a:ext cx="163711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" y="571500"/>
            <a:ext cx="533400" cy="533400"/>
          </a:xfrm>
          <a:prstGeom prst="ellipse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33400" y="571500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333500" y="571500"/>
            <a:ext cx="2719239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96800"/>
              </a:lnSpc>
              <a:buNone/>
            </a:pPr>
            <a:r>
              <a:rPr lang="en-US" sz="330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1 Results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333500" y="1070595"/>
            <a:ext cx="2719239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43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4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71500" y="1437308"/>
            <a:ext cx="17145000" cy="495300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14325" y="1437308"/>
            <a:ext cx="176593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kern="0" spc="132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1 — Results</a:t>
            </a:r>
            <a:endParaRPr lang="en-US" sz="16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571574" y="2065958"/>
            <a:ext cx="8381851" cy="294560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71500" y="5125938"/>
            <a:ext cx="8633460" cy="475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0789"/>
              </a:lnSpc>
              <a:buNone/>
            </a:pPr>
            <a:r>
              <a:rPr lang="en-US" sz="1275" i="1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panel plots expected queue wait against physician count for one facility. The rust line marks the observed CMS wait; the intersection is the implied capacity c*.</a:t>
            </a:r>
            <a:endParaRPr lang="en-US" sz="1275" dirty="0"/>
          </a:p>
        </p:txBody>
      </p:sp>
      <p:sp>
        <p:nvSpPr>
          <p:cNvPr id="10" name="Shape 7"/>
          <p:cNvSpPr/>
          <p:nvPr/>
        </p:nvSpPr>
        <p:spPr>
          <a:xfrm>
            <a:off x="571500" y="5677346"/>
            <a:ext cx="8382000" cy="3528566"/>
          </a:xfrm>
          <a:prstGeom prst="rect">
            <a:avLst/>
          </a:prstGeom>
          <a:solidFill>
            <a:srgbClr val="F4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828968" y="6532290"/>
            <a:ext cx="1362075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b="1" kern="0" spc="180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CONVERGED</a:t>
            </a:r>
            <a:endParaRPr lang="en-US" sz="1200" b="1" dirty="0"/>
          </a:p>
        </p:txBody>
      </p:sp>
      <p:sp>
        <p:nvSpPr>
          <p:cNvPr id="12" name="Text 9"/>
          <p:cNvSpPr/>
          <p:nvPr/>
        </p:nvSpPr>
        <p:spPr>
          <a:xfrm>
            <a:off x="2286000" y="6470376"/>
            <a:ext cx="2327560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 of 25 facilities</a:t>
            </a:r>
            <a:endParaRPr lang="en-US" sz="2250" dirty="0"/>
          </a:p>
        </p:txBody>
      </p:sp>
      <p:sp>
        <p:nvSpPr>
          <p:cNvPr id="13" name="Text 10"/>
          <p:cNvSpPr/>
          <p:nvPr/>
        </p:nvSpPr>
        <p:spPr>
          <a:xfrm>
            <a:off x="857250" y="7113315"/>
            <a:ext cx="1362075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200" b="1" kern="0" spc="180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ROOT</a:t>
            </a:r>
            <a:endParaRPr lang="en-US" sz="1200" b="1" dirty="0"/>
          </a:p>
        </p:txBody>
      </p:sp>
      <p:sp>
        <p:nvSpPr>
          <p:cNvPr id="14" name="Text 11"/>
          <p:cNvSpPr/>
          <p:nvPr/>
        </p:nvSpPr>
        <p:spPr>
          <a:xfrm>
            <a:off x="2286000" y="7070451"/>
            <a:ext cx="1426986" cy="428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facilities</a:t>
            </a:r>
            <a:endParaRPr lang="en-US" sz="2250" dirty="0"/>
          </a:p>
        </p:txBody>
      </p:sp>
      <p:sp>
        <p:nvSpPr>
          <p:cNvPr id="15" name="Shape 12"/>
          <p:cNvSpPr/>
          <p:nvPr/>
        </p:nvSpPr>
        <p:spPr>
          <a:xfrm>
            <a:off x="857250" y="7546702"/>
            <a:ext cx="78105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7250" y="7727677"/>
            <a:ext cx="8044815" cy="808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5488"/>
              </a:lnSpc>
              <a:buNone/>
            </a:pPr>
            <a:r>
              <a:rPr lang="en-US" sz="1425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Diagnostic. </a:t>
            </a:r>
            <a:r>
              <a:rPr lang="en-US" sz="14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the three non-convergent facilities the observed wait falls below the model's theoretical floor even at c = 1000, indicating that λ is underestimated by the bed-share proxy at those sites rather than any failure of the solver.</a:t>
            </a:r>
            <a:endParaRPr lang="en-US" sz="1425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334500" y="2656582"/>
            <a:ext cx="8382000" cy="564482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9334500" y="8987358"/>
            <a:ext cx="9220200" cy="25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0789"/>
              </a:lnSpc>
              <a:buNone/>
            </a:pPr>
            <a:r>
              <a:rPr lang="en-US" sz="1275" i="1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Implied physician capacity recovered for each facility, with the stability floor λ/μ marked.</a:t>
            </a:r>
            <a:endParaRPr lang="en-US" sz="1275" dirty="0"/>
          </a:p>
        </p:txBody>
      </p:sp>
      <p:sp>
        <p:nvSpPr>
          <p:cNvPr id="19" name="Shape 15"/>
          <p:cNvSpPr/>
          <p:nvPr/>
        </p:nvSpPr>
        <p:spPr>
          <a:xfrm>
            <a:off x="571500" y="9339263"/>
            <a:ext cx="171450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571500" y="9482138"/>
            <a:ext cx="4252473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ASPIRE · Mathematical Research and Innovations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17628989" y="9482138"/>
            <a:ext cx="163711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Shape 63">
            <a:extLst>
              <a:ext uri="{FF2B5EF4-FFF2-40B4-BE49-F238E27FC236}">
                <a16:creationId xmlns:a16="http://schemas.microsoft.com/office/drawing/2014/main" id="{62FE2C52-8B89-1290-6F76-A59AE9B58272}"/>
              </a:ext>
            </a:extLst>
          </p:cNvPr>
          <p:cNvSpPr/>
          <p:nvPr/>
        </p:nvSpPr>
        <p:spPr>
          <a:xfrm>
            <a:off x="8999785" y="2427944"/>
            <a:ext cx="8697516" cy="1833083"/>
          </a:xfrm>
          <a:prstGeom prst="rect">
            <a:avLst/>
          </a:prstGeom>
          <a:solidFill>
            <a:srgbClr val="F4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571500" y="571500"/>
            <a:ext cx="533400" cy="533400"/>
          </a:xfrm>
          <a:prstGeom prst="ellipse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33400" y="571500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333500" y="571500"/>
            <a:ext cx="6803417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96800"/>
              </a:lnSpc>
              <a:buNone/>
            </a:pPr>
            <a:r>
              <a:rPr lang="en-US" sz="330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2: Equity-Weighted Allocation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333500" y="1070595"/>
            <a:ext cx="6803417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43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5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71500" y="1456358"/>
            <a:ext cx="17145000" cy="495300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14325" y="1456358"/>
            <a:ext cx="176593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kern="0" spc="132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2 — Allocating New Capacity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571500" y="2104058"/>
            <a:ext cx="8269236" cy="7873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953"/>
              </a:lnSpc>
              <a:buNone/>
            </a:pPr>
            <a:r>
              <a:rPr lang="en-US" sz="14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baseline capacity recovered for every facility, the question becomes where to place additional physicians. A pure efficiency maximizer concentrates them where marginal returns are steepest, which favors well-resourced facilities. An equity weight corrects for that.</a:t>
            </a:r>
            <a:endParaRPr lang="en-US" sz="1425" dirty="0"/>
          </a:p>
        </p:txBody>
      </p:sp>
      <p:sp>
        <p:nvSpPr>
          <p:cNvPr id="9" name="Shape 7"/>
          <p:cNvSpPr/>
          <p:nvPr/>
        </p:nvSpPr>
        <p:spPr>
          <a:xfrm>
            <a:off x="571500" y="3005658"/>
            <a:ext cx="1409700" cy="295275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04850" y="3062808"/>
            <a:ext cx="121920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spc="126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SYMBOL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981200" y="3005658"/>
            <a:ext cx="4161234" cy="295275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114550" y="3062808"/>
            <a:ext cx="401937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spc="126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MEANING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42434" y="3005658"/>
            <a:ext cx="2457450" cy="295275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75784" y="3062808"/>
            <a:ext cx="226695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kern="0" spc="126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OR VALUE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1500" y="3624783"/>
            <a:ext cx="14097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04850" y="3348558"/>
            <a:ext cx="121920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C_w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1981200" y="3624783"/>
            <a:ext cx="4161234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114550" y="3348558"/>
            <a:ext cx="4019371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of one patient-hour of waiting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42434" y="3624783"/>
            <a:ext cx="245745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275784" y="3348558"/>
            <a:ext cx="226695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$120/hr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71500" y="3962921"/>
            <a:ext cx="14097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04850" y="3681933"/>
            <a:ext cx="121920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SVI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1981200" y="3962921"/>
            <a:ext cx="4161234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2114550" y="3681933"/>
            <a:ext cx="4019371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County Social Vulnerability Index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142434" y="3962921"/>
            <a:ext cx="245745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275784" y="3681933"/>
            <a:ext cx="226695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– 1 (CDC/ATSDR)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71500" y="4301058"/>
            <a:ext cx="14097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04850" y="4020071"/>
            <a:ext cx="121920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α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1981200" y="4301058"/>
            <a:ext cx="4161234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2114550" y="4020071"/>
            <a:ext cx="4019371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Equity weighting dial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142434" y="4301058"/>
            <a:ext cx="245745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6275784" y="4020071"/>
            <a:ext cx="226695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2.0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71500" y="4639196"/>
            <a:ext cx="14097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704850" y="4358208"/>
            <a:ext cx="121920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1981200" y="4639196"/>
            <a:ext cx="4161234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2114550" y="4358208"/>
            <a:ext cx="4019371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Physician budget to allocate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142434" y="4639196"/>
            <a:ext cx="245745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275784" y="4358208"/>
            <a:ext cx="226695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71500" y="4977333"/>
            <a:ext cx="14097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704850" y="4696346"/>
            <a:ext cx="121920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c⁰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1981200" y="4977333"/>
            <a:ext cx="4161234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2114550" y="4696346"/>
            <a:ext cx="4019371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 capacity from Step 1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142434" y="4977333"/>
            <a:ext cx="245745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6275784" y="4696346"/>
            <a:ext cx="226695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Solved above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71500" y="5315471"/>
            <a:ext cx="14097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704850" y="5034483"/>
            <a:ext cx="121920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MS(h,c)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1981200" y="5315471"/>
            <a:ext cx="4161234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2114550" y="5034483"/>
            <a:ext cx="4019371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Marginal savings from one more physician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142434" y="5315471"/>
            <a:ext cx="245745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275784" y="5034483"/>
            <a:ext cx="226695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Computed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71500" y="5653608"/>
            <a:ext cx="14097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704850" y="5372621"/>
            <a:ext cx="121920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w_h</a:t>
            </a:r>
            <a:endParaRPr lang="en-US" sz="1350" dirty="0"/>
          </a:p>
        </p:txBody>
      </p:sp>
      <p:sp>
        <p:nvSpPr>
          <p:cNvPr id="53" name="Shape 51"/>
          <p:cNvSpPr/>
          <p:nvPr/>
        </p:nvSpPr>
        <p:spPr>
          <a:xfrm>
            <a:off x="1981200" y="5653608"/>
            <a:ext cx="4161234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2114550" y="5372621"/>
            <a:ext cx="4019371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Equity weight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142434" y="5653608"/>
            <a:ext cx="245745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6275784" y="5372621"/>
            <a:ext cx="226695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Computed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71500" y="5991746"/>
            <a:ext cx="14097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704850" y="5710758"/>
            <a:ext cx="121920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Δ(h,c)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1981200" y="5991746"/>
            <a:ext cx="4161234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2114550" y="5710758"/>
            <a:ext cx="4019371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Equity-weighted priority score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6142434" y="5991746"/>
            <a:ext cx="245745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6275784" y="5710758"/>
            <a:ext cx="226695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Computed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9018984" y="2101676"/>
            <a:ext cx="8831223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00" b="1" u="sng" kern="0" spc="180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FORMULAS</a:t>
            </a:r>
            <a:endParaRPr lang="en-US" sz="1500" b="1" u="sng" dirty="0"/>
          </a:p>
        </p:txBody>
      </p:sp>
      <p:sp>
        <p:nvSpPr>
          <p:cNvPr id="67" name="Text 62"/>
          <p:cNvSpPr/>
          <p:nvPr/>
        </p:nvSpPr>
        <p:spPr>
          <a:xfrm>
            <a:off x="9018984" y="4432478"/>
            <a:ext cx="9567267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1500" b="1" u="sng" kern="0" spc="180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</a:t>
            </a:r>
            <a:endParaRPr lang="en-US" sz="1500" b="1" u="sng" dirty="0"/>
          </a:p>
        </p:txBody>
      </p:sp>
      <p:sp>
        <p:nvSpPr>
          <p:cNvPr id="68" name="Shape 63"/>
          <p:cNvSpPr/>
          <p:nvPr/>
        </p:nvSpPr>
        <p:spPr>
          <a:xfrm>
            <a:off x="9018984" y="4761090"/>
            <a:ext cx="8697516" cy="1591642"/>
          </a:xfrm>
          <a:prstGeom prst="rect">
            <a:avLst/>
          </a:prstGeom>
          <a:solidFill>
            <a:srgbClr val="F4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9" name="Shape 64"/>
          <p:cNvSpPr/>
          <p:nvPr/>
        </p:nvSpPr>
        <p:spPr>
          <a:xfrm>
            <a:off x="9018984" y="4761090"/>
            <a:ext cx="57150" cy="1591642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6634" y="5037315"/>
            <a:ext cx="8259366" cy="1039192"/>
          </a:xfrm>
          <a:prstGeom prst="rect">
            <a:avLst/>
          </a:prstGeom>
        </p:spPr>
      </p:pic>
      <p:sp>
        <p:nvSpPr>
          <p:cNvPr id="71" name="Shape 65"/>
          <p:cNvSpPr/>
          <p:nvPr/>
        </p:nvSpPr>
        <p:spPr>
          <a:xfrm>
            <a:off x="9018984" y="6486083"/>
            <a:ext cx="8697516" cy="333375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2" name="Text 66"/>
          <p:cNvSpPr/>
          <p:nvPr/>
        </p:nvSpPr>
        <p:spPr>
          <a:xfrm>
            <a:off x="9171384" y="6562283"/>
            <a:ext cx="8653641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Greedy allocation — submodular maximization</a:t>
            </a:r>
            <a:endParaRPr lang="en-US" sz="1275" dirty="0"/>
          </a:p>
        </p:txBody>
      </p:sp>
      <p:sp>
        <p:nvSpPr>
          <p:cNvPr id="73" name="Shape 67"/>
          <p:cNvSpPr/>
          <p:nvPr/>
        </p:nvSpPr>
        <p:spPr>
          <a:xfrm>
            <a:off x="9018984" y="6952808"/>
            <a:ext cx="8697516" cy="1717477"/>
          </a:xfrm>
          <a:prstGeom prst="rect">
            <a:avLst/>
          </a:prstGeom>
          <a:solidFill>
            <a:srgbClr val="F4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4" name="Text 68"/>
          <p:cNvSpPr/>
          <p:nvPr/>
        </p:nvSpPr>
        <p:spPr>
          <a:xfrm>
            <a:off x="9190434" y="7086158"/>
            <a:ext cx="8615541" cy="1488877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indent="0" algn="l">
              <a:lnSpc>
                <a:spcPct val="122839"/>
              </a:lnSpc>
              <a:buNone/>
            </a:pP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 = [(-w[h] * MS(h, c[h]), h) </a:t>
            </a:r>
            <a:r>
              <a:rPr lang="en-US" sz="1050" dirty="0">
                <a:solidFill>
                  <a:srgbClr val="0B6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 </a:t>
            </a:r>
            <a:r>
              <a:rPr lang="en-US" sz="1050" dirty="0">
                <a:solidFill>
                  <a:srgbClr val="0B6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hospitals]</a:t>
            </a:r>
            <a:endParaRPr lang="en-US" sz="1050" dirty="0"/>
          </a:p>
          <a:p>
            <a:pPr marL="0" indent="0" algn="l">
              <a:lnSpc>
                <a:spcPct val="122839"/>
              </a:lnSpc>
              <a:buNone/>
            </a:pP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heapify(heap) </a:t>
            </a:r>
            <a:endParaRPr lang="en-US" sz="1050" dirty="0"/>
          </a:p>
          <a:p>
            <a:pPr marL="0" indent="0" algn="l">
              <a:lnSpc>
                <a:spcPct val="122839"/>
              </a:lnSpc>
              <a:buNone/>
            </a:pPr>
            <a:r>
              <a:rPr lang="en-US" sz="1050" dirty="0">
                <a:solidFill>
                  <a:srgbClr val="0B6A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budget &gt; </a:t>
            </a:r>
            <a:r>
              <a:rPr lang="en-US" sz="1050" dirty="0">
                <a:solidFill>
                  <a:srgbClr val="A35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</a:t>
            </a: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050" dirty="0"/>
          </a:p>
          <a:p>
            <a:pPr marL="0" indent="0" algn="l">
              <a:lnSpc>
                <a:spcPct val="122839"/>
              </a:lnSpc>
              <a:buNone/>
            </a:pP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_, h = heappop(heap)</a:t>
            </a:r>
            <a:endParaRPr lang="en-US" sz="1050" dirty="0"/>
          </a:p>
          <a:p>
            <a:pPr marL="0" indent="0" algn="l">
              <a:lnSpc>
                <a:spcPct val="122839"/>
              </a:lnSpc>
              <a:buNone/>
            </a:pP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c[h] +=  </a:t>
            </a:r>
            <a:endParaRPr lang="en-US" sz="1050" dirty="0"/>
          </a:p>
          <a:p>
            <a:pPr marL="0" indent="0" algn="l">
              <a:lnSpc>
                <a:spcPct val="122839"/>
              </a:lnSpc>
              <a:buNone/>
            </a:pPr>
            <a:r>
              <a:rPr lang="en-US" sz="1050" dirty="0">
                <a:solidFill>
                  <a:srgbClr val="A35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 -= </a:t>
            </a:r>
            <a:r>
              <a:rPr lang="en-US" sz="1050" dirty="0">
                <a:solidFill>
                  <a:srgbClr val="A353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</a:t>
            </a:r>
            <a:r>
              <a:rPr lang="en-US" sz="1050" dirty="0">
                <a:solidFill>
                  <a:srgbClr val="073763"/>
                </a:solidFill>
                <a:highlight>
                  <a:srgbClr val="F4F7FA"/>
                </a:highlight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heappush(heap, (-w[h] * MS(h, c[h]), h))</a:t>
            </a:r>
            <a:endParaRPr lang="en-US" sz="1050" dirty="0"/>
          </a:p>
        </p:txBody>
      </p:sp>
      <p:sp>
        <p:nvSpPr>
          <p:cNvPr id="75" name="Text 69"/>
          <p:cNvSpPr/>
          <p:nvPr/>
        </p:nvSpPr>
        <p:spPr>
          <a:xfrm>
            <a:off x="9018984" y="8803634"/>
            <a:ext cx="8958441" cy="4266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6571"/>
              </a:lnSpc>
              <a:buNone/>
            </a:pPr>
            <a:r>
              <a:rPr lang="en-US" sz="1125" i="1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Scores are negated because Python's heapq is a min-heap; the largest weighted marginal saving is popped first. Each physician a facility receives lowers its next score, returning it to the queue behind competitors — allocation self-balances with no explicit fairness constraint.</a:t>
            </a:r>
            <a:endParaRPr lang="en-US" sz="1125" dirty="0"/>
          </a:p>
        </p:txBody>
      </p:sp>
      <p:sp>
        <p:nvSpPr>
          <p:cNvPr id="81" name="Shape 74"/>
          <p:cNvSpPr/>
          <p:nvPr/>
        </p:nvSpPr>
        <p:spPr>
          <a:xfrm>
            <a:off x="571500" y="9339263"/>
            <a:ext cx="171450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2" name="Text 75"/>
          <p:cNvSpPr/>
          <p:nvPr/>
        </p:nvSpPr>
        <p:spPr>
          <a:xfrm>
            <a:off x="571500" y="9482138"/>
            <a:ext cx="4252473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ASPIRE · Mathematical Research and Innovations</a:t>
            </a:r>
            <a:endParaRPr lang="en-US" sz="1350" dirty="0"/>
          </a:p>
        </p:txBody>
      </p:sp>
      <p:sp>
        <p:nvSpPr>
          <p:cNvPr id="83" name="Text 76"/>
          <p:cNvSpPr/>
          <p:nvPr/>
        </p:nvSpPr>
        <p:spPr>
          <a:xfrm>
            <a:off x="17628989" y="9482138"/>
            <a:ext cx="163711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350" dirty="0"/>
          </a:p>
        </p:txBody>
      </p:sp>
      <p:pic>
        <p:nvPicPr>
          <p:cNvPr id="96" name="Image 0">
            <a:extLst>
              <a:ext uri="{FF2B5EF4-FFF2-40B4-BE49-F238E27FC236}">
                <a16:creationId xmlns:a16="http://schemas.microsoft.com/office/drawing/2014/main" id="{C28C5D29-5D59-936A-53ED-E1AB5768E0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9495" t="-7702" r="20478" b="-1797"/>
          <a:stretch>
            <a:fillRect/>
          </a:stretch>
        </p:blipFill>
        <p:spPr>
          <a:xfrm>
            <a:off x="10580083" y="2566128"/>
            <a:ext cx="5383722" cy="386627"/>
          </a:xfrm>
          <a:prstGeom prst="rect">
            <a:avLst/>
          </a:prstGeom>
        </p:spPr>
      </p:pic>
      <p:pic>
        <p:nvPicPr>
          <p:cNvPr id="97" name="Image 1">
            <a:extLst>
              <a:ext uri="{FF2B5EF4-FFF2-40B4-BE49-F238E27FC236}">
                <a16:creationId xmlns:a16="http://schemas.microsoft.com/office/drawing/2014/main" id="{091B0D73-CACE-5354-1042-BD1E3F4AD00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3918" t="-3101" r="34784"/>
          <a:stretch>
            <a:fillRect/>
          </a:stretch>
        </p:blipFill>
        <p:spPr>
          <a:xfrm>
            <a:off x="11367326" y="3078283"/>
            <a:ext cx="3413904" cy="428999"/>
          </a:xfrm>
          <a:prstGeom prst="rect">
            <a:avLst/>
          </a:prstGeom>
        </p:spPr>
      </p:pic>
      <p:pic>
        <p:nvPicPr>
          <p:cNvPr id="98" name="Image 2">
            <a:extLst>
              <a:ext uri="{FF2B5EF4-FFF2-40B4-BE49-F238E27FC236}">
                <a16:creationId xmlns:a16="http://schemas.microsoft.com/office/drawing/2014/main" id="{808D7464-EE6F-AF3A-29A9-0DCA1F0AD0E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0762" t="-2507" r="31899"/>
          <a:stretch>
            <a:fillRect/>
          </a:stretch>
        </p:blipFill>
        <p:spPr>
          <a:xfrm>
            <a:off x="11141996" y="3621733"/>
            <a:ext cx="4021020" cy="421089"/>
          </a:xfrm>
          <a:prstGeom prst="rect">
            <a:avLst/>
          </a:prstGeom>
        </p:spPr>
      </p:pic>
      <p:pic>
        <p:nvPicPr>
          <p:cNvPr id="76" name="Picture 75" descr="The Greedy Loop diagram illustrates a decision-making process for managing a budget, where choices like 'Push back', 'Place', and 'Recompute' are made based on the current score, with a loop that repeats until the budget is exhaete.&#10;&#10;AI-generated content may be incorrect.">
            <a:extLst>
              <a:ext uri="{FF2B5EF4-FFF2-40B4-BE49-F238E27FC236}">
                <a16:creationId xmlns:a16="http://schemas.microsoft.com/office/drawing/2014/main" id="{6D3F84A7-B6C7-08AA-FAE1-7578D733257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5241" t="8085" r="18959"/>
          <a:stretch>
            <a:fillRect/>
          </a:stretch>
        </p:blipFill>
        <p:spPr>
          <a:xfrm>
            <a:off x="2050806" y="6089236"/>
            <a:ext cx="4022022" cy="316206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" y="571500"/>
            <a:ext cx="533400" cy="533400"/>
          </a:xfrm>
          <a:prstGeom prst="ellipse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33400" y="571500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333500" y="571500"/>
            <a:ext cx="2719239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96800"/>
              </a:lnSpc>
              <a:buNone/>
            </a:pPr>
            <a:r>
              <a:rPr lang="en-US" sz="330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2 Results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333500" y="1070595"/>
            <a:ext cx="2719239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43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6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71500" y="1437308"/>
            <a:ext cx="17145000" cy="495300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14325" y="1437308"/>
            <a:ext cx="176593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kern="0" spc="132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2 — Results</a:t>
            </a:r>
            <a:endParaRPr lang="en-US" sz="16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-1" r="-1"/>
          <a:stretch/>
        </p:blipFill>
        <p:spPr>
          <a:xfrm>
            <a:off x="571500" y="2065958"/>
            <a:ext cx="7500000" cy="604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71500" y="8230000"/>
            <a:ext cx="7500000" cy="90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0789"/>
              </a:lnSpc>
              <a:buNone/>
            </a:pPr>
            <a:r>
              <a:rPr lang="en-US" sz="1350" i="1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equity–efficiency frontier. Each point is one value of the equity weight α at a fixed budget of B = 40 physicians. The horizontal axis is the share of the physician budget allocated to above-median-SVI hospitals; the vertical axis is mean wait time reduction across 22 New Jersey hospitals.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471500" y="2065958"/>
            <a:ext cx="9245000" cy="1290000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8719150" y="2256458"/>
            <a:ext cx="8749700" cy="2333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125" kern="0" spc="180" dirty="0">
                <a:solidFill>
                  <a:srgbClr val="9FB9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OF EQUITY WEIGHTING · α = 0 → α = 2</a:t>
            </a:r>
            <a:endParaRPr lang="en-US" sz="1125" dirty="0"/>
          </a:p>
        </p:txBody>
      </p:sp>
      <p:sp>
        <p:nvSpPr>
          <p:cNvPr id="12" name="Text 9"/>
          <p:cNvSpPr/>
          <p:nvPr/>
        </p:nvSpPr>
        <p:spPr>
          <a:xfrm>
            <a:off x="8719150" y="2489820"/>
            <a:ext cx="8749700" cy="5200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7308"/>
              </a:lnSpc>
              <a:buNone/>
            </a:pPr>
            <a:r>
              <a:rPr lang="en-US" sz="3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 minutes</a:t>
            </a:r>
            <a:endParaRPr lang="en-US" sz="3450" dirty="0"/>
          </a:p>
        </p:txBody>
      </p:sp>
      <p:sp>
        <p:nvSpPr>
          <p:cNvPr id="13" name="Text 10"/>
          <p:cNvSpPr/>
          <p:nvPr/>
        </p:nvSpPr>
        <p:spPr>
          <a:xfrm>
            <a:off x="8719150" y="2990776"/>
            <a:ext cx="874970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425" dirty="0">
                <a:solidFill>
                  <a:srgbClr val="9FB9D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mean wait reduction to redirect +5 pts of the budget toward high-SVI hospitals</a:t>
            </a:r>
            <a:endParaRPr lang="en-US" sz="1425" dirty="0"/>
          </a:p>
        </p:txBody>
      </p:sp>
      <p:sp>
        <p:nvSpPr>
          <p:cNvPr id="16" name="Shape 12"/>
          <p:cNvSpPr/>
          <p:nvPr/>
        </p:nvSpPr>
        <p:spPr>
          <a:xfrm>
            <a:off x="8471500" y="3495958"/>
            <a:ext cx="9245000" cy="1180000"/>
          </a:xfrm>
          <a:prstGeom prst="rect">
            <a:avLst/>
          </a:prstGeom>
          <a:solidFill>
            <a:srgbClr val="F4F7F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8471500" y="3495958"/>
            <a:ext cx="57150" cy="1180000"/>
          </a:xfrm>
          <a:prstGeom prst="rect">
            <a:avLst/>
          </a:prstGeom>
          <a:solidFill>
            <a:srgbClr val="A353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8738200" y="3520958"/>
            <a:ext cx="8750000" cy="113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122927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Moving from α = 0 to α = 2 redirects five additional percentage points of the budget toward vulnerable counties at a cost of 0.1 minutes of mean wait reduction. The tradeoff commonly assumed between equity and efficiency is, in this network and at this budget, close to absent.</a:t>
            </a:r>
            <a:endParaRPr lang="en-US" sz="165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380450" y="4815958"/>
            <a:ext cx="5427100" cy="394404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471500" y="8820000"/>
            <a:ext cx="9245000" cy="48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i="1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Expected ED wait time before and after equity-weighted allocation across 22 NJ hospitals, ordered by county SVI. Mean reduction 41.3 min. Assumes μ = 2.55 patients/hr per physician, C</a:t>
            </a:r>
            <a:r>
              <a:rPr lang="en-US" sz="917" i="1" baseline="-4000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</a:t>
            </a:r>
            <a:r>
              <a:rPr lang="en-US" sz="1100" i="1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$120 per patient-hour, α = 2, B = 40 additional physicians.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571500" y="9339263"/>
            <a:ext cx="171450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571500" y="9482138"/>
            <a:ext cx="4252473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ASPIRE · Mathematical Research and Innovations</a:t>
            </a:r>
            <a:endParaRPr lang="en-US" sz="1350" dirty="0"/>
          </a:p>
        </p:txBody>
      </p:sp>
      <p:sp>
        <p:nvSpPr>
          <p:cNvPr id="21" name="Text 17"/>
          <p:cNvSpPr/>
          <p:nvPr/>
        </p:nvSpPr>
        <p:spPr>
          <a:xfrm>
            <a:off x="17628989" y="9482138"/>
            <a:ext cx="163711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" y="571500"/>
            <a:ext cx="533400" cy="533400"/>
          </a:xfrm>
          <a:prstGeom prst="ellipse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33400" y="571500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333500" y="571500"/>
            <a:ext cx="7610676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96800"/>
              </a:lnSpc>
              <a:buNone/>
            </a:pPr>
            <a:r>
              <a:rPr lang="en-US" sz="330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Conclusions, Limitations, Future Work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333500" y="1070595"/>
            <a:ext cx="7610676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43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8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71500" y="1513508"/>
            <a:ext cx="5460950" cy="457200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89586" y="1513508"/>
            <a:ext cx="5624779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ACHIEVED</a:t>
            </a:r>
            <a:endParaRPr lang="en-US" sz="1425" dirty="0"/>
          </a:p>
        </p:txBody>
      </p:sp>
      <p:sp>
        <p:nvSpPr>
          <p:cNvPr id="8" name="Text 6"/>
          <p:cNvSpPr/>
          <p:nvPr/>
        </p:nvSpPr>
        <p:spPr>
          <a:xfrm>
            <a:off x="673418" y="2104058"/>
            <a:ext cx="5516003" cy="7873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126683" indent="-126683" algn="l">
              <a:lnSpc>
                <a:spcPct val="121953"/>
              </a:lnSpc>
              <a:buSzPct val="100000"/>
              <a:buChar char="•"/>
              <a:tabLst>
                <a:tab pos="126683" algn="l"/>
              </a:tabLst>
            </a:pPr>
            <a:r>
              <a:rPr lang="en-US" sz="14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Recovered unobservable physician capacity for 22 NJ emergency departments by inverting an M/M/c queue against public CMS wait-time data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673418" y="2967558"/>
            <a:ext cx="5516003" cy="7873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126683" indent="-126683" algn="l">
              <a:lnSpc>
                <a:spcPct val="121953"/>
              </a:lnSpc>
              <a:buSzPct val="100000"/>
              <a:buChar char="•"/>
              <a:tabLst>
                <a:tab pos="126683" algn="l"/>
              </a:tabLst>
            </a:pPr>
            <a:r>
              <a:rPr lang="en-US" sz="14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Proved uniqueness of the implied-capacity solution and established a (1 − 1/e) approximation guarantee for the allocation</a:t>
            </a:r>
            <a:endParaRPr lang="en-US" sz="1425" dirty="0"/>
          </a:p>
        </p:txBody>
      </p:sp>
      <p:sp>
        <p:nvSpPr>
          <p:cNvPr id="10" name="Text 8"/>
          <p:cNvSpPr/>
          <p:nvPr/>
        </p:nvSpPr>
        <p:spPr>
          <a:xfrm>
            <a:off x="673418" y="3831059"/>
            <a:ext cx="5516003" cy="1050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126683" indent="-126683" algn="l">
              <a:lnSpc>
                <a:spcPct val="121953"/>
              </a:lnSpc>
              <a:buSzPct val="100000"/>
              <a:buChar char="•"/>
            </a:pPr>
            <a:r>
              <a:rPr lang="en-US" sz="14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Showed the equity–efficiency tradeoff in this network is close to absent: moving α from 0 to 2 shifts </a:t>
            </a:r>
            <a:r>
              <a:rPr lang="en-US" sz="1425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+5 pts of the budget</a:t>
            </a:r>
            <a:r>
              <a:rPr lang="en-US" sz="14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toward above-median-SVI counties at a cost of only </a:t>
            </a:r>
            <a:r>
              <a:rPr lang="en-US" sz="1425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 minutes</a:t>
            </a:r>
            <a:r>
              <a:rPr lang="en-US" sz="14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mean wait reduction</a:t>
            </a:r>
            <a:endParaRPr lang="en-US" sz="1425" dirty="0"/>
          </a:p>
        </p:txBody>
      </p:sp>
      <p:sp>
        <p:nvSpPr>
          <p:cNvPr id="11" name="Text 9"/>
          <p:cNvSpPr/>
          <p:nvPr/>
        </p:nvSpPr>
        <p:spPr>
          <a:xfrm>
            <a:off x="673418" y="4944560"/>
            <a:ext cx="5516003" cy="7873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126683" indent="-126683" algn="l">
              <a:lnSpc>
                <a:spcPct val="121953"/>
              </a:lnSpc>
              <a:buSzPct val="100000"/>
              <a:buChar char="•"/>
              <a:tabLst>
                <a:tab pos="126683" algn="l"/>
              </a:tabLst>
            </a:pPr>
            <a:r>
              <a:rPr lang="en-US" sz="14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Preserved a </a:t>
            </a:r>
            <a:r>
              <a:rPr lang="en-US" sz="1425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41.3-minute</a:t>
            </a:r>
            <a:r>
              <a:rPr lang="en-US" sz="14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mean wait reduction while directing the majority of the benefit to above-median-vulnerability counties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571500" y="6162749"/>
            <a:ext cx="546095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71500" y="6324674"/>
            <a:ext cx="342900" cy="342900"/>
          </a:xfrm>
          <a:prstGeom prst="rect">
            <a:avLst/>
          </a:prstGeom>
          <a:ln w="9525">
            <a:solidFill>
              <a:srgbClr val="D7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2463" y="6862837"/>
            <a:ext cx="180975" cy="180975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028700" y="6410399"/>
            <a:ext cx="1929743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2857"/>
              </a:lnSpc>
              <a:buNone/>
            </a:pPr>
            <a:r>
              <a:rPr lang="en-US" sz="1125" kern="0" spc="113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0.1 MIN EQUITY COST</a:t>
            </a:r>
            <a:endParaRPr lang="en-US" sz="1125" dirty="0"/>
          </a:p>
        </p:txBody>
      </p:sp>
      <p:sp>
        <p:nvSpPr>
          <p:cNvPr id="16" name="Shape 13"/>
          <p:cNvSpPr/>
          <p:nvPr/>
        </p:nvSpPr>
        <p:spPr>
          <a:xfrm>
            <a:off x="571500" y="6781874"/>
            <a:ext cx="342900" cy="342900"/>
          </a:xfrm>
          <a:prstGeom prst="rect">
            <a:avLst/>
          </a:prstGeom>
          <a:ln w="9525">
            <a:solidFill>
              <a:srgbClr val="D7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2463" y="7320037"/>
            <a:ext cx="180975" cy="180975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028700" y="6867599"/>
            <a:ext cx="248889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2857"/>
              </a:lnSpc>
              <a:buNone/>
            </a:pPr>
            <a:r>
              <a:rPr lang="en-US" sz="1125" kern="0" spc="113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41.3 MIN MEAN REDUCTION</a:t>
            </a:r>
            <a:endParaRPr lang="en-US" sz="1125" dirty="0"/>
          </a:p>
        </p:txBody>
      </p:sp>
      <p:sp>
        <p:nvSpPr>
          <p:cNvPr id="19" name="Shape 15"/>
          <p:cNvSpPr/>
          <p:nvPr/>
        </p:nvSpPr>
        <p:spPr>
          <a:xfrm>
            <a:off x="571500" y="7239074"/>
            <a:ext cx="342900" cy="342900"/>
          </a:xfrm>
          <a:prstGeom prst="rect">
            <a:avLst/>
          </a:prstGeom>
          <a:ln w="9525">
            <a:solidFill>
              <a:srgbClr val="D7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2463" y="6405637"/>
            <a:ext cx="180975" cy="180975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028700" y="7324799"/>
            <a:ext cx="1578337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2857"/>
              </a:lnSpc>
              <a:buNone/>
            </a:pPr>
            <a:r>
              <a:rPr lang="en-US" sz="1125" kern="0" spc="113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22 EDS INVERTED</a:t>
            </a:r>
            <a:endParaRPr lang="en-US" sz="1125" dirty="0"/>
          </a:p>
        </p:txBody>
      </p:sp>
      <p:sp>
        <p:nvSpPr>
          <p:cNvPr id="22" name="Shape 17"/>
          <p:cNvSpPr/>
          <p:nvPr/>
        </p:nvSpPr>
        <p:spPr>
          <a:xfrm>
            <a:off x="6413450" y="1513508"/>
            <a:ext cx="5461025" cy="457200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6331535" y="1513508"/>
            <a:ext cx="562485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</a:t>
            </a:r>
            <a:endParaRPr lang="en-US" sz="1425" dirty="0"/>
          </a:p>
        </p:txBody>
      </p:sp>
      <p:sp>
        <p:nvSpPr>
          <p:cNvPr id="24" name="Text 19"/>
          <p:cNvSpPr/>
          <p:nvPr/>
        </p:nvSpPr>
        <p:spPr>
          <a:xfrm>
            <a:off x="6515368" y="2104058"/>
            <a:ext cx="5435307" cy="31069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126683" indent="-126683" algn="l">
              <a:lnSpc>
                <a:spcPct val="121953"/>
              </a:lnSpc>
              <a:buSzPct val="100000"/>
              <a:buChar char="•"/>
              <a:tabLst>
                <a:tab pos="126683" algn="l"/>
              </a:tabLst>
            </a:pPr>
            <a:r>
              <a:rPr lang="en-US" sz="14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Arrival rates estimated by bed-share proxy, not measured directly</a:t>
            </a:r>
            <a:endParaRPr lang="en-US" sz="1425" dirty="0"/>
          </a:p>
          <a:p>
            <a:pPr marL="126683" indent="-126683" algn="l">
              <a:lnSpc>
                <a:spcPct val="121953"/>
              </a:lnSpc>
              <a:buSzPct val="100000"/>
              <a:buChar char="•"/>
              <a:tabLst>
                <a:tab pos="126683" algn="l"/>
              </a:tabLst>
            </a:pPr>
            <a:r>
              <a:rPr lang="en-US" sz="14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μ held constant, though Joseph et al. (2018) show physician productivity declines across a shift</a:t>
            </a:r>
            <a:endParaRPr lang="en-US" sz="1425" dirty="0"/>
          </a:p>
          <a:p>
            <a:pPr marL="126683" indent="-126683" algn="l">
              <a:lnSpc>
                <a:spcPct val="121953"/>
              </a:lnSpc>
              <a:buSzPct val="100000"/>
              <a:buChar char="•"/>
              <a:tabLst>
                <a:tab pos="126683" algn="l"/>
              </a:tabLst>
            </a:pPr>
            <a:r>
              <a:rPr lang="en-US" sz="14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M/M/c omits triage acuity classes, balking, and reneging</a:t>
            </a:r>
            <a:endParaRPr lang="en-US" sz="1425" dirty="0"/>
          </a:p>
          <a:p>
            <a:pPr marL="126683" indent="-126683" algn="l">
              <a:lnSpc>
                <a:spcPct val="121953"/>
              </a:lnSpc>
              <a:buSzPct val="100000"/>
              <a:buChar char="•"/>
              <a:tabLst>
                <a:tab pos="126683" algn="l"/>
              </a:tabLst>
            </a:pPr>
            <a:r>
              <a:rPr lang="en-US" sz="14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SVI measured at county level while hospitals are point locations</a:t>
            </a:r>
            <a:endParaRPr lang="en-US" sz="1425" dirty="0"/>
          </a:p>
          <a:p>
            <a:pPr marL="126683" indent="-126683" algn="l">
              <a:lnSpc>
                <a:spcPct val="121953"/>
              </a:lnSpc>
              <a:buSzPct val="100000"/>
              <a:buChar char="•"/>
              <a:tabLst>
                <a:tab pos="126683" algn="l"/>
              </a:tabLst>
            </a:pPr>
            <a:r>
              <a:rPr lang="en-US" sz="14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Mortality evidence linking wait time to harm is associational, not causal</a:t>
            </a:r>
            <a:endParaRPr lang="en-US" sz="1425" dirty="0"/>
          </a:p>
          <a:p>
            <a:pPr marL="126683" indent="-126683" algn="l">
              <a:lnSpc>
                <a:spcPct val="121953"/>
              </a:lnSpc>
              <a:buSzPct val="100000"/>
              <a:buChar char="•"/>
              <a:tabLst>
                <a:tab pos="126683" algn="l"/>
              </a:tabLst>
            </a:pPr>
            <a:r>
              <a:rPr lang="en-US" sz="14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Annual impact figures are modeled projections, not measured outcomes</a:t>
            </a:r>
            <a:endParaRPr lang="en-US" sz="1425" dirty="0"/>
          </a:p>
        </p:txBody>
      </p:sp>
      <p:sp>
        <p:nvSpPr>
          <p:cNvPr id="25" name="Shape 20"/>
          <p:cNvSpPr/>
          <p:nvPr/>
        </p:nvSpPr>
        <p:spPr>
          <a:xfrm>
            <a:off x="6413450" y="6162749"/>
            <a:ext cx="5461025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413450" y="6324674"/>
            <a:ext cx="342900" cy="342900"/>
          </a:xfrm>
          <a:prstGeom prst="rect">
            <a:avLst/>
          </a:prstGeom>
          <a:ln w="9525">
            <a:solidFill>
              <a:srgbClr val="D7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494413" y="6405637"/>
            <a:ext cx="180975" cy="180975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870650" y="6410399"/>
            <a:ext cx="2058501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2857"/>
              </a:lnSpc>
              <a:buNone/>
            </a:pPr>
            <a:r>
              <a:rPr lang="en-US" sz="1125" kern="0" spc="113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PROXY ARRIVAL RATES</a:t>
            </a:r>
            <a:endParaRPr lang="en-US" sz="1125" dirty="0"/>
          </a:p>
        </p:txBody>
      </p:sp>
      <p:sp>
        <p:nvSpPr>
          <p:cNvPr id="29" name="Shape 23"/>
          <p:cNvSpPr/>
          <p:nvPr/>
        </p:nvSpPr>
        <p:spPr>
          <a:xfrm>
            <a:off x="6413450" y="6781874"/>
            <a:ext cx="342900" cy="342900"/>
          </a:xfrm>
          <a:prstGeom prst="rect">
            <a:avLst/>
          </a:prstGeom>
          <a:ln w="9525">
            <a:solidFill>
              <a:srgbClr val="D7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94413" y="6862837"/>
            <a:ext cx="180975" cy="180975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870650" y="6867599"/>
            <a:ext cx="1670752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2857"/>
              </a:lnSpc>
              <a:buNone/>
            </a:pPr>
            <a:r>
              <a:rPr lang="en-US" sz="1125" kern="0" spc="113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Μ HELD CONSTANT</a:t>
            </a:r>
            <a:endParaRPr lang="en-US" sz="1125" dirty="0"/>
          </a:p>
        </p:txBody>
      </p:sp>
      <p:sp>
        <p:nvSpPr>
          <p:cNvPr id="32" name="Shape 25"/>
          <p:cNvSpPr/>
          <p:nvPr/>
        </p:nvSpPr>
        <p:spPr>
          <a:xfrm>
            <a:off x="6413450" y="7239074"/>
            <a:ext cx="342900" cy="342900"/>
          </a:xfrm>
          <a:prstGeom prst="rect">
            <a:avLst/>
          </a:prstGeom>
          <a:ln w="9525">
            <a:solidFill>
              <a:srgbClr val="D7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94413" y="7320037"/>
            <a:ext cx="180975" cy="180975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6870650" y="7324799"/>
            <a:ext cx="1725841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2857"/>
              </a:lnSpc>
              <a:buNone/>
            </a:pPr>
            <a:r>
              <a:rPr lang="en-US" sz="1125" kern="0" spc="113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COUNTY-LEVEL SVI</a:t>
            </a:r>
            <a:endParaRPr lang="en-US" sz="1125" dirty="0"/>
          </a:p>
        </p:txBody>
      </p:sp>
      <p:sp>
        <p:nvSpPr>
          <p:cNvPr id="35" name="Shape 27"/>
          <p:cNvSpPr/>
          <p:nvPr/>
        </p:nvSpPr>
        <p:spPr>
          <a:xfrm>
            <a:off x="12255475" y="1513508"/>
            <a:ext cx="5460950" cy="457200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28"/>
          <p:cNvSpPr/>
          <p:nvPr/>
        </p:nvSpPr>
        <p:spPr>
          <a:xfrm>
            <a:off x="12173561" y="1513508"/>
            <a:ext cx="5624779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425" b="1" kern="0" spc="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FUTURE WORK</a:t>
            </a:r>
            <a:endParaRPr lang="en-US" sz="1425" dirty="0"/>
          </a:p>
        </p:txBody>
      </p:sp>
      <p:sp>
        <p:nvSpPr>
          <p:cNvPr id="37" name="Shape 29"/>
          <p:cNvSpPr/>
          <p:nvPr/>
        </p:nvSpPr>
        <p:spPr>
          <a:xfrm>
            <a:off x="12255475" y="2104058"/>
            <a:ext cx="323850" cy="323850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0"/>
          <p:cNvSpPr/>
          <p:nvPr/>
        </p:nvSpPr>
        <p:spPr>
          <a:xfrm>
            <a:off x="12217375" y="2104058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50" dirty="0"/>
          </a:p>
        </p:txBody>
      </p:sp>
      <p:sp>
        <p:nvSpPr>
          <p:cNvPr id="39" name="Text 31"/>
          <p:cNvSpPr/>
          <p:nvPr/>
        </p:nvSpPr>
        <p:spPr>
          <a:xfrm>
            <a:off x="12750775" y="2104058"/>
            <a:ext cx="546221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Time-varying service rate</a:t>
            </a:r>
            <a:endParaRPr lang="en-US" sz="1650" dirty="0"/>
          </a:p>
        </p:txBody>
      </p:sp>
      <p:sp>
        <p:nvSpPr>
          <p:cNvPr id="40" name="Text 32"/>
          <p:cNvSpPr/>
          <p:nvPr/>
        </p:nvSpPr>
        <p:spPr>
          <a:xfrm>
            <a:off x="12750775" y="2404095"/>
            <a:ext cx="5114620" cy="78730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953"/>
              </a:lnSpc>
              <a:buNone/>
            </a:pPr>
            <a:r>
              <a:rPr lang="en-US" sz="14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Replace the constant μ with a within-shift decay profile, so implied capacity is recovered against the productivity curve Joseph et al. (2018) measure rather than a flat average.</a:t>
            </a:r>
            <a:endParaRPr lang="en-US" sz="1425" dirty="0"/>
          </a:p>
        </p:txBody>
      </p:sp>
      <p:sp>
        <p:nvSpPr>
          <p:cNvPr id="41" name="Shape 33"/>
          <p:cNvSpPr/>
          <p:nvPr/>
        </p:nvSpPr>
        <p:spPr>
          <a:xfrm>
            <a:off x="12255475" y="3362846"/>
            <a:ext cx="323850" cy="323850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4"/>
          <p:cNvSpPr/>
          <p:nvPr/>
        </p:nvSpPr>
        <p:spPr>
          <a:xfrm>
            <a:off x="12217375" y="3362846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50" dirty="0"/>
          </a:p>
        </p:txBody>
      </p:sp>
      <p:sp>
        <p:nvSpPr>
          <p:cNvPr id="43" name="Text 35"/>
          <p:cNvSpPr/>
          <p:nvPr/>
        </p:nvSpPr>
        <p:spPr>
          <a:xfrm>
            <a:off x="12750775" y="3362846"/>
            <a:ext cx="546221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5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 beyond New Jersey</a:t>
            </a:r>
            <a:endParaRPr lang="en-US" sz="1650" dirty="0"/>
          </a:p>
        </p:txBody>
      </p:sp>
      <p:sp>
        <p:nvSpPr>
          <p:cNvPr id="44" name="Text 36"/>
          <p:cNvSpPr/>
          <p:nvPr/>
        </p:nvSpPr>
        <p:spPr>
          <a:xfrm>
            <a:off x="12750775" y="3662883"/>
            <a:ext cx="5114620" cy="103703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1953"/>
              </a:lnSpc>
              <a:buNone/>
            </a:pPr>
            <a:r>
              <a:rPr lang="en-US" sz="14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inversion needs only CMS wait times, bed counts and county volumes, all of which exist nationally — so the method generalizes state by state, and can be validated wherever staffing is actually reported.</a:t>
            </a:r>
            <a:endParaRPr lang="en-US" sz="1425" dirty="0"/>
          </a:p>
        </p:txBody>
      </p:sp>
      <p:sp>
        <p:nvSpPr>
          <p:cNvPr id="45" name="Shape 37"/>
          <p:cNvSpPr/>
          <p:nvPr/>
        </p:nvSpPr>
        <p:spPr>
          <a:xfrm>
            <a:off x="12255475" y="6162749"/>
            <a:ext cx="546095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38"/>
          <p:cNvSpPr/>
          <p:nvPr/>
        </p:nvSpPr>
        <p:spPr>
          <a:xfrm>
            <a:off x="12255475" y="6324674"/>
            <a:ext cx="342900" cy="342900"/>
          </a:xfrm>
          <a:prstGeom prst="rect">
            <a:avLst/>
          </a:prstGeom>
          <a:ln w="9525">
            <a:solidFill>
              <a:srgbClr val="D7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7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2336438" y="6405637"/>
            <a:ext cx="180975" cy="180975"/>
          </a:xfrm>
          <a:prstGeom prst="rect">
            <a:avLst/>
          </a:prstGeom>
        </p:spPr>
      </p:pic>
      <p:sp>
        <p:nvSpPr>
          <p:cNvPr id="48" name="Text 39"/>
          <p:cNvSpPr/>
          <p:nvPr/>
        </p:nvSpPr>
        <p:spPr>
          <a:xfrm>
            <a:off x="12712675" y="6410399"/>
            <a:ext cx="1733944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>
              <a:lnSpc>
                <a:spcPct val="102857"/>
              </a:lnSpc>
            </a:pPr>
            <a:r>
              <a:rPr lang="el-GR" sz="1125" kern="0" spc="113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μ</a:t>
            </a:r>
            <a:r>
              <a:rPr lang="en-US" sz="1125" kern="0" spc="113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(T) WITHIN SHIFT</a:t>
            </a:r>
            <a:endParaRPr lang="en-US" sz="1125" dirty="0"/>
          </a:p>
        </p:txBody>
      </p:sp>
      <p:sp>
        <p:nvSpPr>
          <p:cNvPr id="49" name="Shape 40"/>
          <p:cNvSpPr/>
          <p:nvPr/>
        </p:nvSpPr>
        <p:spPr>
          <a:xfrm>
            <a:off x="12255475" y="6781874"/>
            <a:ext cx="342900" cy="342900"/>
          </a:xfrm>
          <a:prstGeom prst="rect">
            <a:avLst/>
          </a:prstGeom>
          <a:ln w="9525">
            <a:solidFill>
              <a:srgbClr val="D7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336438" y="6862837"/>
            <a:ext cx="180975" cy="180975"/>
          </a:xfrm>
          <a:prstGeom prst="rect">
            <a:avLst/>
          </a:prstGeom>
        </p:spPr>
      </p:pic>
      <p:sp>
        <p:nvSpPr>
          <p:cNvPr id="51" name="Text 41"/>
          <p:cNvSpPr/>
          <p:nvPr/>
        </p:nvSpPr>
        <p:spPr>
          <a:xfrm>
            <a:off x="12712675" y="6867599"/>
            <a:ext cx="1813590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2857"/>
              </a:lnSpc>
              <a:buNone/>
            </a:pPr>
            <a:r>
              <a:rPr lang="en-US" sz="1125" kern="0" spc="113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NATIONAL ROLLOUT</a:t>
            </a:r>
            <a:endParaRPr lang="en-US" sz="1125" dirty="0"/>
          </a:p>
        </p:txBody>
      </p:sp>
      <p:sp>
        <p:nvSpPr>
          <p:cNvPr id="52" name="Shape 42"/>
          <p:cNvSpPr/>
          <p:nvPr/>
        </p:nvSpPr>
        <p:spPr>
          <a:xfrm>
            <a:off x="12255475" y="7239074"/>
            <a:ext cx="342900" cy="342900"/>
          </a:xfrm>
          <a:prstGeom prst="rect">
            <a:avLst/>
          </a:prstGeom>
          <a:ln w="9525">
            <a:solidFill>
              <a:srgbClr val="D7E0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3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2336438" y="7320037"/>
            <a:ext cx="180975" cy="180975"/>
          </a:xfrm>
          <a:prstGeom prst="rect">
            <a:avLst/>
          </a:prstGeom>
        </p:spPr>
      </p:pic>
      <p:sp>
        <p:nvSpPr>
          <p:cNvPr id="54" name="Text 43"/>
          <p:cNvSpPr/>
          <p:nvPr/>
        </p:nvSpPr>
        <p:spPr>
          <a:xfrm>
            <a:off x="12712675" y="7324799"/>
            <a:ext cx="1882185" cy="2095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2857"/>
              </a:lnSpc>
              <a:buNone/>
            </a:pPr>
            <a:r>
              <a:rPr lang="en-US" sz="1125" kern="0" spc="113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WAGE-CONSTRAINED</a:t>
            </a:r>
            <a:endParaRPr lang="en-US" sz="1125" dirty="0"/>
          </a:p>
        </p:txBody>
      </p:sp>
      <p:sp>
        <p:nvSpPr>
          <p:cNvPr id="55" name="Shape 44"/>
          <p:cNvSpPr/>
          <p:nvPr/>
        </p:nvSpPr>
        <p:spPr>
          <a:xfrm>
            <a:off x="571500" y="7791524"/>
            <a:ext cx="171450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45"/>
          <p:cNvSpPr/>
          <p:nvPr/>
        </p:nvSpPr>
        <p:spPr>
          <a:xfrm>
            <a:off x="571500" y="7915349"/>
            <a:ext cx="18859500" cy="219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050" kern="0" spc="168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REFERENCES</a:t>
            </a:r>
            <a:endParaRPr lang="en-US" sz="1050" dirty="0"/>
          </a:p>
        </p:txBody>
      </p:sp>
      <p:sp>
        <p:nvSpPr>
          <p:cNvPr id="57" name="Text 46"/>
          <p:cNvSpPr/>
          <p:nvPr/>
        </p:nvSpPr>
        <p:spPr>
          <a:xfrm>
            <a:off x="571500" y="8153474"/>
            <a:ext cx="146745" cy="578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050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050" dirty="0"/>
          </a:p>
        </p:txBody>
      </p:sp>
      <p:sp>
        <p:nvSpPr>
          <p:cNvPr id="58" name="Text 47"/>
          <p:cNvSpPr/>
          <p:nvPr/>
        </p:nvSpPr>
        <p:spPr>
          <a:xfrm>
            <a:off x="718245" y="8153474"/>
            <a:ext cx="5499845" cy="578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0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Singer AJ, Thode HC Jr, Viccellio P, Pines JM. The association between length of emergency department boarding and mortality. </a:t>
            </a:r>
            <a:r>
              <a:rPr lang="en-US" sz="1050" i="1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Acad Emerg Med. </a:t>
            </a:r>
            <a:r>
              <a:rPr lang="en-US" sz="10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2011;18(12):1324–1329.</a:t>
            </a:r>
            <a:endParaRPr lang="en-US" sz="1050" dirty="0"/>
          </a:p>
        </p:txBody>
      </p:sp>
      <p:sp>
        <p:nvSpPr>
          <p:cNvPr id="59" name="Text 48"/>
          <p:cNvSpPr/>
          <p:nvPr/>
        </p:nvSpPr>
        <p:spPr>
          <a:xfrm>
            <a:off x="6400800" y="8153474"/>
            <a:ext cx="146745" cy="578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050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050" dirty="0"/>
          </a:p>
        </p:txBody>
      </p:sp>
      <p:sp>
        <p:nvSpPr>
          <p:cNvPr id="60" name="Text 49"/>
          <p:cNvSpPr/>
          <p:nvPr/>
        </p:nvSpPr>
        <p:spPr>
          <a:xfrm>
            <a:off x="6547545" y="8153474"/>
            <a:ext cx="5499845" cy="578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0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Roussel M, Teissandier D, Yordanov Y, et al. Overnight stay in the emergency department and mortality in older patients. </a:t>
            </a:r>
            <a:r>
              <a:rPr lang="en-US" sz="1050" i="1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JAMA Intern Med. </a:t>
            </a:r>
            <a:r>
              <a:rPr lang="en-US" sz="10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2023;183(12):1378–1385.</a:t>
            </a:r>
            <a:endParaRPr lang="en-US" sz="1050" dirty="0"/>
          </a:p>
        </p:txBody>
      </p:sp>
      <p:sp>
        <p:nvSpPr>
          <p:cNvPr id="61" name="Text 50"/>
          <p:cNvSpPr/>
          <p:nvPr/>
        </p:nvSpPr>
        <p:spPr>
          <a:xfrm>
            <a:off x="12230100" y="8153474"/>
            <a:ext cx="146745" cy="578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050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050" dirty="0"/>
          </a:p>
        </p:txBody>
      </p:sp>
      <p:sp>
        <p:nvSpPr>
          <p:cNvPr id="62" name="Text 51"/>
          <p:cNvSpPr/>
          <p:nvPr/>
        </p:nvSpPr>
        <p:spPr>
          <a:xfrm>
            <a:off x="12376845" y="8153474"/>
            <a:ext cx="5499845" cy="5781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0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Augustine JJ. More advanced practice providers working in emergency departments. </a:t>
            </a:r>
            <a:r>
              <a:rPr lang="en-US" sz="1050" i="1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ACEP Now. </a:t>
            </a:r>
            <a:r>
              <a:rPr lang="en-US" sz="10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2017;36(9).</a:t>
            </a:r>
            <a:endParaRPr lang="en-US" sz="1050" dirty="0"/>
          </a:p>
        </p:txBody>
      </p:sp>
      <p:sp>
        <p:nvSpPr>
          <p:cNvPr id="63" name="Text 52"/>
          <p:cNvSpPr/>
          <p:nvPr/>
        </p:nvSpPr>
        <p:spPr>
          <a:xfrm>
            <a:off x="571500" y="8769697"/>
            <a:ext cx="146745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050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050" dirty="0"/>
          </a:p>
        </p:txBody>
      </p:sp>
      <p:sp>
        <p:nvSpPr>
          <p:cNvPr id="64" name="Text 53"/>
          <p:cNvSpPr/>
          <p:nvPr/>
        </p:nvSpPr>
        <p:spPr>
          <a:xfrm>
            <a:off x="718245" y="8769697"/>
            <a:ext cx="5499845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0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Joseph JW, Davis S, Wilker EH, et al. Modelling attending physician productivity in the emergency department: a multicentre study. </a:t>
            </a:r>
            <a:r>
              <a:rPr lang="en-US" sz="1050" i="1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Emerg Med J. </a:t>
            </a:r>
            <a:r>
              <a:rPr lang="en-US" sz="10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2018;35(5):317–322.</a:t>
            </a:r>
            <a:endParaRPr lang="en-US" sz="1050" dirty="0"/>
          </a:p>
        </p:txBody>
      </p:sp>
      <p:sp>
        <p:nvSpPr>
          <p:cNvPr id="65" name="Text 54"/>
          <p:cNvSpPr/>
          <p:nvPr/>
        </p:nvSpPr>
        <p:spPr>
          <a:xfrm>
            <a:off x="6400800" y="8769697"/>
            <a:ext cx="146745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050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050" dirty="0"/>
          </a:p>
        </p:txBody>
      </p:sp>
      <p:sp>
        <p:nvSpPr>
          <p:cNvPr id="66" name="Text 55"/>
          <p:cNvSpPr/>
          <p:nvPr/>
        </p:nvSpPr>
        <p:spPr>
          <a:xfrm>
            <a:off x="6547545" y="8769697"/>
            <a:ext cx="5499845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0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Nemhauser GL, Wolsey LA, Fisher ML. An analysis of approximations for maximizing submodular set functions. </a:t>
            </a:r>
            <a:r>
              <a:rPr lang="en-US" sz="1050" i="1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Math Program. </a:t>
            </a:r>
            <a:r>
              <a:rPr lang="en-US" sz="10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1978;14(1):265–294.</a:t>
            </a:r>
            <a:endParaRPr lang="en-US" sz="1050" dirty="0"/>
          </a:p>
        </p:txBody>
      </p:sp>
      <p:sp>
        <p:nvSpPr>
          <p:cNvPr id="67" name="Text 56"/>
          <p:cNvSpPr/>
          <p:nvPr/>
        </p:nvSpPr>
        <p:spPr>
          <a:xfrm>
            <a:off x="12230100" y="8769697"/>
            <a:ext cx="146745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050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050" dirty="0"/>
          </a:p>
        </p:txBody>
      </p:sp>
      <p:sp>
        <p:nvSpPr>
          <p:cNvPr id="68" name="Text 57"/>
          <p:cNvSpPr/>
          <p:nvPr/>
        </p:nvSpPr>
        <p:spPr>
          <a:xfrm>
            <a:off x="12376845" y="8769697"/>
            <a:ext cx="5499845" cy="3981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18125"/>
              </a:lnSpc>
              <a:buNone/>
            </a:pPr>
            <a:r>
              <a:rPr lang="en-US" sz="10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Data: CMS OP_18b; HCRIS 2023; NJSHAD county ED volumes; CDC/ATSDR Social Vulnerability Index.</a:t>
            </a:r>
            <a:endParaRPr lang="en-US" sz="1050" dirty="0"/>
          </a:p>
        </p:txBody>
      </p:sp>
      <p:sp>
        <p:nvSpPr>
          <p:cNvPr id="69" name="Shape 58"/>
          <p:cNvSpPr/>
          <p:nvPr/>
        </p:nvSpPr>
        <p:spPr>
          <a:xfrm>
            <a:off x="571500" y="9339263"/>
            <a:ext cx="171450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59"/>
          <p:cNvSpPr/>
          <p:nvPr/>
        </p:nvSpPr>
        <p:spPr>
          <a:xfrm>
            <a:off x="571500" y="9482138"/>
            <a:ext cx="4252473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ASPIRE · Mathematical Research and Innovations</a:t>
            </a:r>
            <a:endParaRPr lang="en-US" sz="1350" dirty="0"/>
          </a:p>
        </p:txBody>
      </p:sp>
      <p:sp>
        <p:nvSpPr>
          <p:cNvPr id="71" name="Text 60"/>
          <p:cNvSpPr/>
          <p:nvPr/>
        </p:nvSpPr>
        <p:spPr>
          <a:xfrm>
            <a:off x="17628989" y="9482138"/>
            <a:ext cx="163711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" y="571500"/>
            <a:ext cx="533400" cy="533400"/>
          </a:xfrm>
          <a:prstGeom prst="ellipse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33400" y="571500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333500" y="571500"/>
            <a:ext cx="6717305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96800"/>
              </a:lnSpc>
              <a:buNone/>
            </a:pPr>
            <a:r>
              <a:rPr lang="en-US" sz="330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Application for Hospital Networks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333500" y="1070595"/>
            <a:ext cx="6717305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43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9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71500" y="1551608"/>
            <a:ext cx="17145000" cy="495300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14325" y="1551608"/>
            <a:ext cx="1765935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650" b="1" kern="0" spc="132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Model to Tool 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571500" y="9339263"/>
            <a:ext cx="171450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71500" y="9482138"/>
            <a:ext cx="4252473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ASPIRE · Mathematical Research and Innovations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7628989" y="9482138"/>
            <a:ext cx="163711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1350" dirty="0"/>
          </a:p>
        </p:txBody>
      </p:sp>
      <p:pic>
        <p:nvPicPr>
          <p:cNvPr id="22" name="Picture 21" descr="The image displays an allocation console with a summary of physician distribution, facility status, and patient wait time savings, with various hospitals and their respective metrics.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377D3303-7B4C-A4EB-7BB5-674E8A126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9664" y="2256458"/>
            <a:ext cx="13406576" cy="681042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" y="571500"/>
            <a:ext cx="533400" cy="533400"/>
          </a:xfrm>
          <a:prstGeom prst="ellipse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33400" y="571500"/>
            <a:ext cx="609600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950" dirty="0"/>
          </a:p>
        </p:txBody>
      </p:sp>
      <p:sp>
        <p:nvSpPr>
          <p:cNvPr id="4" name="Text 2"/>
          <p:cNvSpPr/>
          <p:nvPr/>
        </p:nvSpPr>
        <p:spPr>
          <a:xfrm>
            <a:off x="1333500" y="571500"/>
            <a:ext cx="15758160" cy="4990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6800"/>
              </a:lnSpc>
              <a:buNone/>
            </a:pPr>
            <a:r>
              <a:rPr lang="en-US" sz="3300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Contact &amp; Resources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333500" y="1070595"/>
            <a:ext cx="15758160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kern="0" spc="243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10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71500" y="1551608"/>
            <a:ext cx="9700989" cy="7540005"/>
          </a:xfrm>
          <a:prstGeom prst="rect">
            <a:avLst/>
          </a:prstGeom>
          <a:solidFill>
            <a:srgbClr val="F4F7F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1009650" y="4457179"/>
            <a:ext cx="180975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09650" y="3980929"/>
            <a:ext cx="18859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19400" y="4457179"/>
            <a:ext cx="7014939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819400" y="3980929"/>
            <a:ext cx="7225387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0737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Rithvik Sharma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1009650" y="5019154"/>
            <a:ext cx="180975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09650" y="4619104"/>
            <a:ext cx="18859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EMAIL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19400" y="5019154"/>
            <a:ext cx="7014939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819400" y="4619104"/>
            <a:ext cx="722538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725" dirty="0"/>
              <a:t>rs20psr@gmail.com</a:t>
            </a:r>
          </a:p>
        </p:txBody>
      </p:sp>
      <p:sp>
        <p:nvSpPr>
          <p:cNvPr id="18" name="Shape 16"/>
          <p:cNvSpPr/>
          <p:nvPr/>
        </p:nvSpPr>
        <p:spPr>
          <a:xfrm>
            <a:off x="1009650" y="5581129"/>
            <a:ext cx="180975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009650" y="5181079"/>
            <a:ext cx="1885950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GITHUB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19400" y="5581129"/>
            <a:ext cx="7014939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819400" y="5181079"/>
            <a:ext cx="7225387" cy="2857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r>
              <a:rPr lang="en-US" sz="1725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https://github.com/RithvikS1/ed-allocation-research.git</a:t>
            </a:r>
            <a:endParaRPr lang="en-US" sz="1725" dirty="0"/>
          </a:p>
        </p:txBody>
      </p:sp>
      <p:sp>
        <p:nvSpPr>
          <p:cNvPr id="22" name="Shape 20"/>
          <p:cNvSpPr/>
          <p:nvPr/>
        </p:nvSpPr>
        <p:spPr>
          <a:xfrm>
            <a:off x="1009650" y="6195492"/>
            <a:ext cx="180975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009650" y="5743054"/>
            <a:ext cx="188595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MENTOR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819400" y="6195492"/>
            <a:ext cx="7014939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819400" y="5743054"/>
            <a:ext cx="7225387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Professor Padhu Seshaiyer, George Mason University</a:t>
            </a:r>
            <a:endParaRPr lang="en-US" sz="1725" dirty="0"/>
          </a:p>
        </p:txBody>
      </p:sp>
      <p:sp>
        <p:nvSpPr>
          <p:cNvPr id="26" name="Text 24"/>
          <p:cNvSpPr/>
          <p:nvPr/>
        </p:nvSpPr>
        <p:spPr>
          <a:xfrm>
            <a:off x="1009650" y="6357417"/>
            <a:ext cx="1885950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kern="0" spc="192" dirty="0">
                <a:solidFill>
                  <a:srgbClr val="A353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PROGRAM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819400" y="6357417"/>
            <a:ext cx="7225387" cy="342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725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ASPIRE — Mathematical Research and Innovations</a:t>
            </a:r>
            <a:endParaRPr lang="en-US" sz="1725" dirty="0"/>
          </a:p>
        </p:txBody>
      </p:sp>
      <p:sp>
        <p:nvSpPr>
          <p:cNvPr id="28" name="Shape 26"/>
          <p:cNvSpPr/>
          <p:nvPr/>
        </p:nvSpPr>
        <p:spPr>
          <a:xfrm>
            <a:off x="10691589" y="1551608"/>
            <a:ext cx="7024836" cy="7540005"/>
          </a:xfrm>
          <a:prstGeom prst="rect">
            <a:avLst/>
          </a:prstGeom>
          <a:solidFill>
            <a:srgbClr val="073763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13070532" y="3926160"/>
            <a:ext cx="2266950" cy="2266950"/>
          </a:xfrm>
          <a:prstGeom prst="rect">
            <a:avLst/>
          </a:prstGeom>
          <a:ln w="9525">
            <a:solidFill>
              <a:srgbClr val="9FB9D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3882464" y="4819650"/>
            <a:ext cx="719138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22927"/>
              </a:lnSpc>
              <a:buNone/>
            </a:pPr>
            <a:r>
              <a:rPr lang="en-US" sz="13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QR code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13739589" y="5059635"/>
            <a:ext cx="1004962" cy="2714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22927"/>
              </a:lnSpc>
              <a:buNone/>
            </a:pPr>
            <a:r>
              <a:rPr lang="en-US" sz="13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placeholder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12893509" y="6862533"/>
            <a:ext cx="3076754" cy="3749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buNone/>
            </a:pPr>
            <a:r>
              <a:rPr lang="en-US" sz="2100" b="1" kern="0" spc="126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Scan for Web App! </a:t>
            </a:r>
          </a:p>
          <a:p>
            <a:pPr marL="0" indent="0" algn="l">
              <a:buNone/>
            </a:pPr>
            <a:endParaRPr lang="en-US" sz="2100" b="1" kern="0" spc="126" dirty="0">
              <a:solidFill>
                <a:srgbClr val="FFFFFF"/>
              </a:solidFill>
              <a:latin typeface="Georgia" pitchFamily="34" charset="0"/>
              <a:ea typeface="Georgia" pitchFamily="34" charset="-122"/>
              <a:cs typeface="Georgia" pitchFamily="34" charset="-12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71500" y="9339263"/>
            <a:ext cx="17145000" cy="9525"/>
          </a:xfrm>
          <a:prstGeom prst="rect">
            <a:avLst/>
          </a:prstGeom>
          <a:solidFill>
            <a:srgbClr val="D7E0E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71500" y="9482138"/>
            <a:ext cx="4252473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ASPIRE · Mathematical Research and Innovations</a:t>
            </a:r>
            <a:endParaRPr lang="en-US" sz="1350" dirty="0"/>
          </a:p>
        </p:txBody>
      </p:sp>
      <p:sp>
        <p:nvSpPr>
          <p:cNvPr id="36" name="Text 34"/>
          <p:cNvSpPr/>
          <p:nvPr/>
        </p:nvSpPr>
        <p:spPr>
          <a:xfrm>
            <a:off x="17541553" y="9482138"/>
            <a:ext cx="251147" cy="271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5F6B7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350" dirty="0"/>
          </a:p>
        </p:txBody>
      </p:sp>
      <p:pic>
        <p:nvPicPr>
          <p:cNvPr id="29" name="Picture 28" descr="The image is a QR code with a blue background and a white QR code pattern.&#10;&#10;AI-generated content may be incorrect.">
            <a:extLst>
              <a:ext uri="{FF2B5EF4-FFF2-40B4-BE49-F238E27FC236}">
                <a16:creationId xmlns:a16="http://schemas.microsoft.com/office/drawing/2014/main" id="{322DE512-B840-FA2F-E938-3974B1B0F6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5279" y="2239475"/>
            <a:ext cx="4413508" cy="4413508"/>
          </a:xfrm>
          <a:prstGeom prst="rect">
            <a:avLst/>
          </a:prstGeom>
        </p:spPr>
      </p:pic>
      <p:pic>
        <p:nvPicPr>
          <p:cNvPr id="8" name="Picture 7" descr="The image shows a pair of black smartphones with their respective cases, and a directional arrow pointing downwards.&#10;&#10;AI-generated content may be incorrect.">
            <a:extLst>
              <a:ext uri="{FF2B5EF4-FFF2-40B4-BE49-F238E27FC236}">
                <a16:creationId xmlns:a16="http://schemas.microsoft.com/office/drawing/2014/main" id="{B5DF6608-52FB-DF13-B7AE-4F87FA531CAA}"/>
              </a:ext>
            </a:extLst>
          </p:cNvPr>
          <p:cNvPicPr>
            <a:picLocks noChangeAspect="1"/>
          </p:cNvPicPr>
          <p:nvPr/>
        </p:nvPicPr>
        <p:blipFill>
          <a:blip r:embed="rId4">
            <a:lum bright="70000" contrast="-70000"/>
          </a:blip>
          <a:stretch>
            <a:fillRect/>
          </a:stretch>
        </p:blipFill>
        <p:spPr>
          <a:xfrm>
            <a:off x="13362918" y="7183614"/>
            <a:ext cx="2137936" cy="21379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265</TotalTime>
  <Words>2086</Words>
  <Application>Microsoft Office PowerPoint</Application>
  <PresentationFormat>Custom</PresentationFormat>
  <Paragraphs>248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Courier New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Rithvik Sharma</cp:lastModifiedBy>
  <cp:revision>5</cp:revision>
  <dcterms:created xsi:type="dcterms:W3CDTF">2026-08-08T20:10:40Z</dcterms:created>
  <dcterms:modified xsi:type="dcterms:W3CDTF">2026-09-17T01:36:09Z</dcterms:modified>
</cp:coreProperties>
</file>