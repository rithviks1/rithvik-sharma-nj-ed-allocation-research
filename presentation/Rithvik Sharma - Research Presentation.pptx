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19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200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afternoon. I'm Rithvik Sharma from the Academy of Mathematics, Science and Engineering. This work asks whether physician staffing — a quantity hospitals do not report — can be recovered from published wait times, and then reallocated under an equity constraint.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Crowding is a clinical harm with a measured mortality signal. The obstacle is that staffing is unobserved — so the research question is whether capacity can be recovered from wait times and then reallocated under an equity constraint.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Staffing is not reported, but wait times are. Since wait is a strictly decreasing function of staffing, that function can be inverted. Brent's method finds the unique root between the stability floor and c equals one thousand.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panel plots the wait curve for one facility; the rust line is the observed CMS wait and the intersection is the implied capacity. Twenty-two of twenty-five facilities converged; the three that did not are a diagnosis of the arrival-rate proxy, not a solver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baseline capacity recovered, the question is where to put additional physicians. A pure efficiency maximizer favors well-resourced facilities; the equity weight corrects for that, and the allocation self-balances because each added physician lowers that facility's next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reduction is 41.3 minutes. The frontier is the substantive finding: moving alpha from zero to two shifts five points of budget toward vulnerable counties and costs one tenth of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Scaled across a year, the network sheds roughly 905 thousand patient-hours of waiting, and 64 percent of that benefit lands in above-median-vulnerability counties. The distribution plot shows the whole network moves, not only the worst facilities.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was achieved, what the model does not capture, and where it goes next. The largest open items are a time-varying service rate and a wage-constrained variant that makes headcount an output rather than an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— the hospital-network application goes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Slides, code and the data-preparation notebooks are in the repository. Thank you — I'm glad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d-allocation-research.vercel.app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65785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71500" y="571500"/>
            <a:ext cx="533400" cy="533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3400" y="571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333500" y="704850"/>
            <a:ext cx="8958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9FB9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255764"/>
            <a:ext cx="163449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9FB9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1499" y="3760589"/>
            <a:ext cx="18043671" cy="1363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353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Solving for Optimal Staffing: An Inverse Queuing Approach to Equity-Weighted Physician Allocation Across New Jersey EDs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571500" y="6229350"/>
            <a:ext cx="18859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Rithvik Sharma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571500" y="6819900"/>
            <a:ext cx="188595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Academy of Mathematics, Science, &amp; Engineering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71500" y="7253288"/>
            <a:ext cx="188595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Mentor: Professor Padhu Seshaiyer, George Mason University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1500" y="7662863"/>
            <a:ext cx="188595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— Mathematical Research and Innovations · August 2026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1500" y="9339263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1500" y="9482138"/>
            <a:ext cx="4252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7628989" y="9482138"/>
            <a:ext cx="16371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71500"/>
            <a:ext cx="533400" cy="533400"/>
          </a:xfrm>
          <a:prstGeom prst="ellipse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33500" y="571500"/>
            <a:ext cx="7810500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 and Research Question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1070595"/>
            <a:ext cx="676977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2226231"/>
            <a:ext cx="618000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SDG 3 — GOOD HEALTH AND WELL-BEING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71500" y="2478643"/>
            <a:ext cx="5786733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department crowding is a measurable clinical harm, not merely an operational inefficiency.</a:t>
            </a:r>
            <a:endParaRPr lang="en-US" sz="1575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62491" y="1759714"/>
            <a:ext cx="1238250" cy="1238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3400" y="3426143"/>
            <a:ext cx="770972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533400" y="3678555"/>
            <a:ext cx="7219102" cy="1438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allocation models treat every hospital as identical, ignoring the socioeconomic conditions of the communities each serves. Because marginal returns on an added physician are highest at well-resourced facilities, capacity concentrates there while hospitals in higher-vulnerability counties fall further behind.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571500" y="5459894"/>
            <a:ext cx="770972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HIDDEN OBSTACLE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571500" y="5712306"/>
            <a:ext cx="7219102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53"/>
              </a:lnSpc>
              <a:buNone/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Physician staffing levels are not publicly reported. You cannot optimize what you cannot observe.</a:t>
            </a:r>
            <a:endParaRPr lang="en-US" sz="1425" dirty="0"/>
          </a:p>
        </p:txBody>
      </p:sp>
      <p:sp>
        <p:nvSpPr>
          <p:cNvPr id="13" name="Shape 10"/>
          <p:cNvSpPr/>
          <p:nvPr/>
        </p:nvSpPr>
        <p:spPr>
          <a:xfrm>
            <a:off x="571500" y="6739562"/>
            <a:ext cx="7008837" cy="1553395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1500" y="6739563"/>
            <a:ext cx="57150" cy="1553394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57250" y="6930063"/>
            <a:ext cx="714393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u="sng" kern="0" spc="180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</a:t>
            </a:r>
            <a:endParaRPr lang="en-US" sz="1200" b="1" u="sng" dirty="0"/>
          </a:p>
        </p:txBody>
      </p:sp>
      <p:sp>
        <p:nvSpPr>
          <p:cNvPr id="16" name="Text 13"/>
          <p:cNvSpPr/>
          <p:nvPr/>
        </p:nvSpPr>
        <p:spPr>
          <a:xfrm>
            <a:off x="836390" y="7249150"/>
            <a:ext cx="6689322" cy="9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3846"/>
              </a:lnSpc>
              <a:buNone/>
            </a:pPr>
            <a:r>
              <a:rPr lang="en-US" sz="1725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implied physician capacity be recovered from public wait-time data, and can that capacity be reallocated under an equity constraint without materially sacrificing aggregate efficiency?</a:t>
            </a:r>
            <a:endParaRPr lang="en-US" sz="1725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20261" y="1513508"/>
            <a:ext cx="8713440" cy="727516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37537" y="8903047"/>
            <a:ext cx="10646859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263"/>
              </a:lnSpc>
              <a:buNone/>
            </a:pPr>
            <a:r>
              <a:rPr lang="en-US" sz="1275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 are not comparable across cohorts; populations differ. Association, not causation.</a:t>
            </a:r>
            <a:endParaRPr lang="en-US" sz="1275" dirty="0"/>
          </a:p>
        </p:txBody>
      </p:sp>
      <p:sp>
        <p:nvSpPr>
          <p:cNvPr id="19" name="Shape 15"/>
          <p:cNvSpPr/>
          <p:nvPr/>
        </p:nvSpPr>
        <p:spPr>
          <a:xfrm>
            <a:off x="571500" y="9339263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71500" y="9482138"/>
            <a:ext cx="4252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7628989" y="9482138"/>
            <a:ext cx="16371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71500"/>
            <a:ext cx="533400" cy="533400"/>
          </a:xfrm>
          <a:prstGeom prst="ellipse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33500" y="571500"/>
            <a:ext cx="9026904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Recovering Implied Capacity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1070595"/>
            <a:ext cx="7096132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1500" y="1456358"/>
            <a:ext cx="17145000" cy="49530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4325" y="1456358"/>
            <a:ext cx="176593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132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— The Inverse Problem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71500" y="2104058"/>
            <a:ext cx="8269236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53"/>
              </a:lnSpc>
              <a:buNone/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Physician staffing levels are not publicly reported. But wait times are. If wait time is a known function of staffing, that function can be inverted.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571500" y="2755925"/>
            <a:ext cx="1409700" cy="295275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850" y="2813075"/>
            <a:ext cx="12192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981200" y="2755925"/>
            <a:ext cx="4161234" cy="295275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14550" y="2813075"/>
            <a:ext cx="401937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2434" y="2755925"/>
            <a:ext cx="2457450" cy="295275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5784" y="2813075"/>
            <a:ext cx="22669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OR VALUE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" y="3375050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850" y="3098825"/>
            <a:ext cx="1219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981200" y="3375050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14550" y="3098825"/>
            <a:ext cx="40193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Arrival rate at the facility (patients/hr)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42434" y="3375050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75784" y="3098825"/>
            <a:ext cx="22669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Derived — see chain below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1500" y="3713187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4850" y="3432200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μ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981200" y="3713187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114550" y="3432200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rate per physician (patients/hr)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42434" y="3713187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75784" y="3432200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2.55 (EDBA; Augustine 2017)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1500" y="3722712"/>
            <a:ext cx="8028384" cy="3429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71500" y="4056087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04850" y="3779862"/>
            <a:ext cx="1219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981200" y="4056087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114550" y="3779862"/>
            <a:ext cx="401937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Physicians on duty in parallel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6142434" y="4056087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75784" y="3779862"/>
            <a:ext cx="22669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UNKNOWN — solved for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1500" y="4394225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4850" y="4113237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= λ/μ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981200" y="4394225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114550" y="4113237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Offered load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42434" y="4394225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75784" y="4113237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71500" y="4732362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04850" y="4451375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ρ = A/c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1981200" y="4732362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114550" y="4451375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Utilization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42434" y="4732362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75784" y="4451375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Derived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71500" y="5070500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04850" y="4789512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P(W)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1981200" y="5070500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114550" y="4789512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Probability an arrival must wait (Erlang C)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142434" y="5070500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75784" y="4789512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Computed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71500" y="5408637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04850" y="5127650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Wq(c)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1981200" y="5408637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114550" y="5127650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queue wait (hours)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142434" y="5408637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75784" y="5127650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output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71500" y="5746775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04850" y="5465787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Wq_obs</a:t>
            </a:r>
            <a:endParaRPr lang="en-US" sz="1350" dirty="0"/>
          </a:p>
        </p:txBody>
      </p:sp>
      <p:sp>
        <p:nvSpPr>
          <p:cNvPr id="60" name="Shape 58"/>
          <p:cNvSpPr/>
          <p:nvPr/>
        </p:nvSpPr>
        <p:spPr>
          <a:xfrm>
            <a:off x="1981200" y="5746775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114550" y="5465787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Observed median ED wait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142434" y="5746775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275784" y="5465787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CMS OP_18b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71500" y="6256846"/>
            <a:ext cx="8028384" cy="1428824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71500" y="6249022"/>
            <a:ext cx="57150" cy="1428824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27892" y="6334170"/>
            <a:ext cx="830734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u="sng" kern="0" spc="180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INVERSION</a:t>
            </a:r>
            <a:endParaRPr lang="en-US" sz="1200" b="1" u="sng" dirty="0"/>
          </a:p>
        </p:txBody>
      </p:sp>
      <p:pic>
        <p:nvPicPr>
          <p:cNvPr id="67" name="Image 0" descr="preencoded.png"/>
          <p:cNvPicPr>
            <a:picLocks noChangeAspect="1"/>
          </p:cNvPicPr>
          <p:nvPr/>
        </p:nvPicPr>
        <p:blipFill>
          <a:blip r:embed="rId3"/>
          <a:srcRect l="20878" t="1" r="19896" b="-1"/>
          <a:stretch>
            <a:fillRect/>
          </a:stretch>
        </p:blipFill>
        <p:spPr>
          <a:xfrm>
            <a:off x="1864652" y="6634207"/>
            <a:ext cx="5499229" cy="790576"/>
          </a:xfrm>
          <a:prstGeom prst="rect">
            <a:avLst/>
          </a:prstGeom>
        </p:spPr>
      </p:pic>
      <p:sp>
        <p:nvSpPr>
          <p:cNvPr id="68" name="Text 65"/>
          <p:cNvSpPr/>
          <p:nvPr/>
        </p:nvSpPr>
        <p:spPr>
          <a:xfrm>
            <a:off x="571500" y="7863359"/>
            <a:ext cx="883122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18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 DERIVATION CHAIN</a:t>
            </a:r>
            <a:endParaRPr lang="en-US" sz="1125" b="1" dirty="0"/>
          </a:p>
        </p:txBody>
      </p:sp>
      <p:sp>
        <p:nvSpPr>
          <p:cNvPr id="69" name="Shape 66"/>
          <p:cNvSpPr/>
          <p:nvPr/>
        </p:nvSpPr>
        <p:spPr>
          <a:xfrm>
            <a:off x="571500" y="8272141"/>
            <a:ext cx="1926729" cy="525393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571500" y="8332719"/>
            <a:ext cx="1888629" cy="363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6750"/>
              </a:lnSpc>
              <a:buNone/>
            </a:pPr>
            <a:r>
              <a:rPr lang="en-US" sz="1200" dirty="0">
                <a:solidFill>
                  <a:srgbClr val="FFFFFF"/>
                </a:solidFill>
                <a:highlight>
                  <a:srgbClr val="073763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NJSHAD county ED visits, 2024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2593479" y="8422934"/>
            <a:ext cx="2857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50" dirty="0"/>
          </a:p>
        </p:txBody>
      </p:sp>
      <p:sp>
        <p:nvSpPr>
          <p:cNvPr id="72" name="Shape 69"/>
          <p:cNvSpPr/>
          <p:nvPr/>
        </p:nvSpPr>
        <p:spPr>
          <a:xfrm>
            <a:off x="2898279" y="8338846"/>
            <a:ext cx="1926803" cy="458688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2917328" y="8453496"/>
            <a:ext cx="1888703" cy="363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6750"/>
              </a:lnSpc>
              <a:buNone/>
            </a:pPr>
            <a:r>
              <a:rPr lang="en-US" sz="1200" dirty="0">
                <a:solidFill>
                  <a:srgbClr val="FFFFFF"/>
                </a:solidFill>
                <a:highlight>
                  <a:srgbClr val="073763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× HCRIS 2023 bed share</a:t>
            </a:r>
            <a:endParaRPr lang="en-US" sz="1200" dirty="0"/>
          </a:p>
        </p:txBody>
      </p:sp>
      <p:sp>
        <p:nvSpPr>
          <p:cNvPr id="74" name="Text 71"/>
          <p:cNvSpPr/>
          <p:nvPr/>
        </p:nvSpPr>
        <p:spPr>
          <a:xfrm>
            <a:off x="4920332" y="8422934"/>
            <a:ext cx="2857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50" dirty="0"/>
          </a:p>
        </p:txBody>
      </p:sp>
      <p:sp>
        <p:nvSpPr>
          <p:cNvPr id="75" name="Shape 72"/>
          <p:cNvSpPr/>
          <p:nvPr/>
        </p:nvSpPr>
        <p:spPr>
          <a:xfrm>
            <a:off x="5225132" y="8420181"/>
            <a:ext cx="1926729" cy="296019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5244182" y="8445185"/>
            <a:ext cx="1888629" cy="200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67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÷ 8,760 hrs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7247111" y="8422934"/>
            <a:ext cx="2857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50" dirty="0"/>
          </a:p>
        </p:txBody>
      </p:sp>
      <p:sp>
        <p:nvSpPr>
          <p:cNvPr id="78" name="Text 75"/>
          <p:cNvSpPr/>
          <p:nvPr/>
        </p:nvSpPr>
        <p:spPr>
          <a:xfrm>
            <a:off x="7551911" y="8422934"/>
            <a:ext cx="112417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 per facility</a:t>
            </a:r>
            <a:endParaRPr lang="en-US" sz="1425" dirty="0"/>
          </a:p>
        </p:txBody>
      </p:sp>
      <p:sp>
        <p:nvSpPr>
          <p:cNvPr id="79" name="Text 76"/>
          <p:cNvSpPr/>
          <p:nvPr/>
        </p:nvSpPr>
        <p:spPr>
          <a:xfrm>
            <a:off x="571500" y="8927254"/>
            <a:ext cx="8831223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571"/>
              </a:lnSpc>
              <a:buNone/>
            </a:pPr>
            <a:r>
              <a:rPr lang="en-US" sz="1125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Facility-level ED volume is not published, so county volume is disaggregated in proportion to licensed beds.</a:t>
            </a:r>
            <a:endParaRPr lang="en-US" sz="1125" dirty="0"/>
          </a:p>
        </p:txBody>
      </p:sp>
      <p:sp>
        <p:nvSpPr>
          <p:cNvPr id="80" name="Text 77"/>
          <p:cNvSpPr/>
          <p:nvPr/>
        </p:nvSpPr>
        <p:spPr>
          <a:xfrm>
            <a:off x="9018984" y="2104058"/>
            <a:ext cx="9567267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MODEL</a:t>
            </a:r>
            <a:endParaRPr lang="en-US" sz="1125" dirty="0"/>
          </a:p>
        </p:txBody>
      </p:sp>
      <p:sp>
        <p:nvSpPr>
          <p:cNvPr id="81" name="Text 78"/>
          <p:cNvSpPr/>
          <p:nvPr/>
        </p:nvSpPr>
        <p:spPr>
          <a:xfrm>
            <a:off x="8942784" y="2664916"/>
            <a:ext cx="103093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Offered load, utilization</a:t>
            </a:r>
            <a:endParaRPr lang="en-US" sz="1125" dirty="0"/>
          </a:p>
        </p:txBody>
      </p:sp>
      <p:pic>
        <p:nvPicPr>
          <p:cNvPr id="8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1367" y="2613645"/>
            <a:ext cx="7495133" cy="493068"/>
          </a:xfrm>
          <a:prstGeom prst="rect">
            <a:avLst/>
          </a:prstGeom>
        </p:spPr>
      </p:pic>
      <p:sp>
        <p:nvSpPr>
          <p:cNvPr id="83" name="Text 79"/>
          <p:cNvSpPr/>
          <p:nvPr/>
        </p:nvSpPr>
        <p:spPr>
          <a:xfrm>
            <a:off x="8942784" y="3757092"/>
            <a:ext cx="1030932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Erlang C — probability an arrival waits</a:t>
            </a:r>
            <a:endParaRPr lang="en-US" sz="1125" dirty="0"/>
          </a:p>
        </p:txBody>
      </p:sp>
      <p:pic>
        <p:nvPicPr>
          <p:cNvPr id="8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1367" y="3478188"/>
            <a:ext cx="7495133" cy="1143670"/>
          </a:xfrm>
          <a:prstGeom prst="rect">
            <a:avLst/>
          </a:prstGeom>
        </p:spPr>
      </p:pic>
      <p:sp>
        <p:nvSpPr>
          <p:cNvPr id="85" name="Text 80"/>
          <p:cNvSpPr/>
          <p:nvPr/>
        </p:nvSpPr>
        <p:spPr>
          <a:xfrm>
            <a:off x="8942784" y="5050706"/>
            <a:ext cx="103093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queue wait</a:t>
            </a:r>
            <a:endParaRPr lang="en-US" sz="1125" dirty="0"/>
          </a:p>
        </p:txBody>
      </p:sp>
      <p:pic>
        <p:nvPicPr>
          <p:cNvPr id="8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1367" y="4993332"/>
            <a:ext cx="7495133" cy="505271"/>
          </a:xfrm>
          <a:prstGeom prst="rect">
            <a:avLst/>
          </a:prstGeom>
        </p:spPr>
      </p:pic>
      <p:sp>
        <p:nvSpPr>
          <p:cNvPr id="87" name="Shape 81"/>
          <p:cNvSpPr/>
          <p:nvPr/>
        </p:nvSpPr>
        <p:spPr>
          <a:xfrm>
            <a:off x="9018984" y="5812929"/>
            <a:ext cx="8697516" cy="333375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2"/>
          <p:cNvSpPr/>
          <p:nvPr/>
        </p:nvSpPr>
        <p:spPr>
          <a:xfrm>
            <a:off x="9171384" y="5889129"/>
            <a:ext cx="865364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scipy.optimize.brentq</a:t>
            </a:r>
            <a:endParaRPr lang="en-US" sz="1275" dirty="0"/>
          </a:p>
        </p:txBody>
      </p:sp>
      <p:sp>
        <p:nvSpPr>
          <p:cNvPr id="89" name="Shape 83"/>
          <p:cNvSpPr/>
          <p:nvPr/>
        </p:nvSpPr>
        <p:spPr>
          <a:xfrm>
            <a:off x="9018984" y="6279654"/>
            <a:ext cx="8697516" cy="2457152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4"/>
          <p:cNvSpPr/>
          <p:nvPr/>
        </p:nvSpPr>
        <p:spPr>
          <a:xfrm>
            <a:off x="9190434" y="6413004"/>
            <a:ext cx="8615541" cy="22285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solve_implied_c(lam, wq_obs, mu):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objective(c):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&lt;= lam / mu: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A3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1e9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rho, L = lam / (c * mu), lam / mu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i="1" dirty="0">
                <a:solidFill>
                  <a:srgbClr val="7D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log-space Erlang C: factorials overflow at realistic lambda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term2 = np.exp(c * np.log(L) - gammaln(c + </a:t>
            </a:r>
            <a:r>
              <a:rPr lang="en-US" sz="1050" dirty="0">
                <a:solidFill>
                  <a:srgbClr val="A3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 np.log(</a:t>
            </a:r>
            <a:r>
              <a:rPr lang="en-US" sz="1050" dirty="0">
                <a:solidFill>
                  <a:srgbClr val="A3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rho))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term1 = np.exp(L) * pdtr( 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(np.floor(c)) - </a:t>
            </a:r>
            <a:r>
              <a:rPr lang="en-US" sz="1050" dirty="0">
                <a:solidFill>
                  <a:srgbClr val="A3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L)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p_wait = term2 / (term1 + term2)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p_wait / (c * mu - lam) - wq_obs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brentq(objective, lam / mu + </a:t>
            </a:r>
            <a:r>
              <a:rPr lang="en-US" sz="1050" dirty="0">
                <a:solidFill>
                  <a:srgbClr val="A3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A3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1000.0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91" name="Text 85"/>
          <p:cNvSpPr/>
          <p:nvPr/>
        </p:nvSpPr>
        <p:spPr>
          <a:xfrm>
            <a:off x="9018984" y="8870156"/>
            <a:ext cx="8958441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571"/>
              </a:lnSpc>
              <a:buNone/>
            </a:pPr>
            <a:r>
              <a:rPr lang="en-US" sz="1125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bracket runs from the stability floor λ/μ to c = 1000. Erlang C is evaluated in log space using gammaln and the Poisson CDF; direct factorial evaluation overflows at realistic arrival rates.</a:t>
            </a:r>
            <a:endParaRPr lang="en-US" sz="1125" dirty="0"/>
          </a:p>
        </p:txBody>
      </p:sp>
      <p:sp>
        <p:nvSpPr>
          <p:cNvPr id="92" name="Shape 86"/>
          <p:cNvSpPr/>
          <p:nvPr/>
        </p:nvSpPr>
        <p:spPr>
          <a:xfrm>
            <a:off x="571500" y="9339263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87"/>
          <p:cNvSpPr/>
          <p:nvPr/>
        </p:nvSpPr>
        <p:spPr>
          <a:xfrm>
            <a:off x="571500" y="9482138"/>
            <a:ext cx="4252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350" dirty="0"/>
          </a:p>
        </p:txBody>
      </p:sp>
      <p:sp>
        <p:nvSpPr>
          <p:cNvPr id="94" name="Text 88"/>
          <p:cNvSpPr/>
          <p:nvPr/>
        </p:nvSpPr>
        <p:spPr>
          <a:xfrm>
            <a:off x="17628989" y="9482138"/>
            <a:ext cx="16371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71500"/>
            <a:ext cx="533400" cy="533400"/>
          </a:xfrm>
          <a:prstGeom prst="ellipse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33500" y="571500"/>
            <a:ext cx="2719239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Results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1070595"/>
            <a:ext cx="2719239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1500" y="1437308"/>
            <a:ext cx="17145000" cy="49530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4325" y="1437308"/>
            <a:ext cx="176593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132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— Results</a:t>
            </a:r>
            <a:endParaRPr lang="en-US" sz="16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571574" y="2065958"/>
            <a:ext cx="8381851" cy="29456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1500" y="5125938"/>
            <a:ext cx="8633460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panel plots expected queue wait against physician count for one facility. The rust line marks the observed CMS wait; the intersection is the implied capacity c*.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571500" y="5677346"/>
            <a:ext cx="8382000" cy="3528566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8968" y="6532290"/>
            <a:ext cx="1362075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8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CONVERGED</a:t>
            </a:r>
            <a:endParaRPr lang="en-US" sz="1200" b="1" dirty="0"/>
          </a:p>
        </p:txBody>
      </p:sp>
      <p:sp>
        <p:nvSpPr>
          <p:cNvPr id="12" name="Text 9"/>
          <p:cNvSpPr/>
          <p:nvPr/>
        </p:nvSpPr>
        <p:spPr>
          <a:xfrm>
            <a:off x="2286000" y="6470376"/>
            <a:ext cx="232756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of 25 facilities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857250" y="7113315"/>
            <a:ext cx="1362075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8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ROOT</a:t>
            </a:r>
            <a:endParaRPr lang="en-US" sz="1200" b="1" dirty="0"/>
          </a:p>
        </p:txBody>
      </p:sp>
      <p:sp>
        <p:nvSpPr>
          <p:cNvPr id="14" name="Text 11"/>
          <p:cNvSpPr/>
          <p:nvPr/>
        </p:nvSpPr>
        <p:spPr>
          <a:xfrm>
            <a:off x="2286000" y="7070451"/>
            <a:ext cx="142698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facilities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857250" y="7546702"/>
            <a:ext cx="78105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7250" y="7727677"/>
            <a:ext cx="8044815" cy="808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488"/>
              </a:lnSpc>
              <a:buNone/>
            </a:pPr>
            <a:r>
              <a:rPr lang="en-US" sz="1425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Diagnostic. </a:t>
            </a: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three non-convergent facilities the observed wait falls below the model's theoretical floor even at c = 1000, indicating that λ is underestimated by the bed-share proxy at those sites rather than any failure of the solver.</a:t>
            </a:r>
            <a:endParaRPr lang="en-US" sz="1425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34500" y="2656582"/>
            <a:ext cx="8382000" cy="56448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334500" y="8987358"/>
            <a:ext cx="9220200" cy="256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Implied physician capacity recovered for each facility, with the stability floor λ/μ marked.</a:t>
            </a:r>
            <a:endParaRPr lang="en-US" sz="1275" dirty="0"/>
          </a:p>
        </p:txBody>
      </p:sp>
      <p:sp>
        <p:nvSpPr>
          <p:cNvPr id="19" name="Shape 15"/>
          <p:cNvSpPr/>
          <p:nvPr/>
        </p:nvSpPr>
        <p:spPr>
          <a:xfrm>
            <a:off x="571500" y="9339263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71500" y="9482138"/>
            <a:ext cx="4252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7628989" y="9482138"/>
            <a:ext cx="16371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63">
            <a:extLst>
              <a:ext uri="{FF2B5EF4-FFF2-40B4-BE49-F238E27FC236}">
                <a16:creationId xmlns:a16="http://schemas.microsoft.com/office/drawing/2014/main" id="{62FE2C52-8B89-1290-6F76-A59AE9B58272}"/>
              </a:ext>
            </a:extLst>
          </p:cNvPr>
          <p:cNvSpPr/>
          <p:nvPr/>
        </p:nvSpPr>
        <p:spPr>
          <a:xfrm>
            <a:off x="8999785" y="2427944"/>
            <a:ext cx="8697516" cy="1833083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571500" y="571500"/>
            <a:ext cx="533400" cy="533400"/>
          </a:xfrm>
          <a:prstGeom prst="ellipse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33500" y="571500"/>
            <a:ext cx="6803417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Equity-Weighted Allocation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1070595"/>
            <a:ext cx="6803417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1500" y="1456358"/>
            <a:ext cx="17145000" cy="49530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4325" y="1456358"/>
            <a:ext cx="176593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132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Allocating New Capacity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71500" y="2104058"/>
            <a:ext cx="8269236" cy="787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53"/>
              </a:lnSpc>
              <a:buNone/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baseline capacity recovered for every facility, the question becomes where to place additional physicians. A pure efficiency maximizer concentrates them where marginal returns are steepest, which favors well-resourced facilities. An equity weight corrects for that.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571500" y="3005658"/>
            <a:ext cx="1409700" cy="295275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850" y="3062808"/>
            <a:ext cx="12192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981200" y="3005658"/>
            <a:ext cx="4161234" cy="295275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14550" y="3062808"/>
            <a:ext cx="401937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2434" y="3005658"/>
            <a:ext cx="2457450" cy="295275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5784" y="3062808"/>
            <a:ext cx="22669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OR VALUE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" y="3624783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850" y="3348558"/>
            <a:ext cx="1219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C_w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981200" y="3624783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14550" y="3348558"/>
            <a:ext cx="40193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of one patient-hour of waiting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42434" y="3624783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75784" y="3348558"/>
            <a:ext cx="22669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$120/hr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1500" y="3962921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4850" y="3681933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SVI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981200" y="3962921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114550" y="3681933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County Social Vulnerability Index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42434" y="3962921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75784" y="3681933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– 1 (CDC/ATSDR)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1500" y="4301058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4850" y="4020071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981200" y="4301058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114550" y="4020071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 weighting dial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42434" y="4301058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75784" y="4020071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71500" y="4639196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4850" y="4358208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1981200" y="4639196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114550" y="4358208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Physician budget to allocate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42434" y="4639196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75784" y="4358208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71500" y="4977333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04850" y="4696346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c⁰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1981200" y="4977333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114550" y="4696346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capacity from Step 1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42434" y="4977333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75784" y="4696346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Solved above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71500" y="5315471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04850" y="5034483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MS(h,c)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1981200" y="5315471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114550" y="5034483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Marginal savings from one more physician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142434" y="5315471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75784" y="5034483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Computed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71500" y="5653608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04850" y="5372621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w_h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1981200" y="5653608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114550" y="5372621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 weight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142434" y="5653608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275784" y="5372621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Computed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71500" y="5991746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04850" y="5710758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Δ(h,c)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1981200" y="5991746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114550" y="5710758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Equity-weighted priority score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142434" y="5991746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275784" y="5710758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Computed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9018984" y="2101676"/>
            <a:ext cx="883122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 u="sng" kern="0" spc="18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FORMULAS</a:t>
            </a:r>
            <a:endParaRPr lang="en-US" sz="1500" b="1" u="sng" dirty="0"/>
          </a:p>
        </p:txBody>
      </p:sp>
      <p:sp>
        <p:nvSpPr>
          <p:cNvPr id="67" name="Text 62"/>
          <p:cNvSpPr/>
          <p:nvPr/>
        </p:nvSpPr>
        <p:spPr>
          <a:xfrm>
            <a:off x="9018984" y="4432478"/>
            <a:ext cx="9567267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 u="sng" kern="0" spc="18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1500" b="1" u="sng" dirty="0"/>
          </a:p>
        </p:txBody>
      </p:sp>
      <p:sp>
        <p:nvSpPr>
          <p:cNvPr id="68" name="Shape 63"/>
          <p:cNvSpPr/>
          <p:nvPr/>
        </p:nvSpPr>
        <p:spPr>
          <a:xfrm>
            <a:off x="9018984" y="4761090"/>
            <a:ext cx="8697516" cy="1591642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4"/>
          <p:cNvSpPr/>
          <p:nvPr/>
        </p:nvSpPr>
        <p:spPr>
          <a:xfrm>
            <a:off x="9018984" y="4761090"/>
            <a:ext cx="57150" cy="1591642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6634" y="5037315"/>
            <a:ext cx="8259366" cy="1039192"/>
          </a:xfrm>
          <a:prstGeom prst="rect">
            <a:avLst/>
          </a:prstGeom>
        </p:spPr>
      </p:pic>
      <p:sp>
        <p:nvSpPr>
          <p:cNvPr id="71" name="Shape 65"/>
          <p:cNvSpPr/>
          <p:nvPr/>
        </p:nvSpPr>
        <p:spPr>
          <a:xfrm>
            <a:off x="9018984" y="6486083"/>
            <a:ext cx="8697516" cy="333375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6"/>
          <p:cNvSpPr/>
          <p:nvPr/>
        </p:nvSpPr>
        <p:spPr>
          <a:xfrm>
            <a:off x="9171384" y="6562283"/>
            <a:ext cx="865364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Greedy allocation — submodular maximization</a:t>
            </a:r>
            <a:endParaRPr lang="en-US" sz="1275" dirty="0"/>
          </a:p>
        </p:txBody>
      </p:sp>
      <p:sp>
        <p:nvSpPr>
          <p:cNvPr id="73" name="Shape 67"/>
          <p:cNvSpPr/>
          <p:nvPr/>
        </p:nvSpPr>
        <p:spPr>
          <a:xfrm>
            <a:off x="9018984" y="6952808"/>
            <a:ext cx="8697516" cy="1717477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68"/>
          <p:cNvSpPr/>
          <p:nvPr/>
        </p:nvSpPr>
        <p:spPr>
          <a:xfrm>
            <a:off x="9190434" y="7086158"/>
            <a:ext cx="8615541" cy="14888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 = [(-w[h] * MS(h, c[h]), h) </a:t>
            </a: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 </a:t>
            </a: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hospitals]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heapify(heap) 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budget &gt; </a:t>
            </a:r>
            <a:r>
              <a:rPr lang="en-US" sz="1050" dirty="0">
                <a:solidFill>
                  <a:srgbClr val="A3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_, h = heappop(heap)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c[h] +=  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A3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budget -= </a:t>
            </a:r>
            <a:r>
              <a:rPr lang="en-US" sz="1050" dirty="0">
                <a:solidFill>
                  <a:srgbClr val="A3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heappush(heap, (-w[h] * MS(h, c[h]), h))</a:t>
            </a:r>
            <a:endParaRPr lang="en-US" sz="1050" dirty="0"/>
          </a:p>
        </p:txBody>
      </p:sp>
      <p:sp>
        <p:nvSpPr>
          <p:cNvPr id="75" name="Text 69"/>
          <p:cNvSpPr/>
          <p:nvPr/>
        </p:nvSpPr>
        <p:spPr>
          <a:xfrm>
            <a:off x="9018984" y="8803634"/>
            <a:ext cx="8958441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571"/>
              </a:lnSpc>
              <a:buNone/>
            </a:pPr>
            <a:r>
              <a:rPr lang="en-US" sz="1125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Scores are negated because Python's heapq is a min-heap; the largest weighted marginal saving is popped first. Each physician a facility receives lowers its next score, returning it to the queue behind competitors — allocation self-balances with no explicit fairness constraint.</a:t>
            </a:r>
            <a:endParaRPr lang="en-US" sz="1125" dirty="0"/>
          </a:p>
        </p:txBody>
      </p:sp>
      <p:sp>
        <p:nvSpPr>
          <p:cNvPr id="81" name="Shape 74"/>
          <p:cNvSpPr/>
          <p:nvPr/>
        </p:nvSpPr>
        <p:spPr>
          <a:xfrm>
            <a:off x="571500" y="9339263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75"/>
          <p:cNvSpPr/>
          <p:nvPr/>
        </p:nvSpPr>
        <p:spPr>
          <a:xfrm>
            <a:off x="571500" y="9482138"/>
            <a:ext cx="4252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350" dirty="0"/>
          </a:p>
        </p:txBody>
      </p:sp>
      <p:sp>
        <p:nvSpPr>
          <p:cNvPr id="83" name="Text 76"/>
          <p:cNvSpPr/>
          <p:nvPr/>
        </p:nvSpPr>
        <p:spPr>
          <a:xfrm>
            <a:off x="17628989" y="9482138"/>
            <a:ext cx="16371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50" dirty="0"/>
          </a:p>
        </p:txBody>
      </p:sp>
      <p:pic>
        <p:nvPicPr>
          <p:cNvPr id="96" name="Image 0">
            <a:extLst>
              <a:ext uri="{FF2B5EF4-FFF2-40B4-BE49-F238E27FC236}">
                <a16:creationId xmlns:a16="http://schemas.microsoft.com/office/drawing/2014/main" id="{C28C5D29-5D59-936A-53ED-E1AB5768E0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495" t="-7702" r="20478" b="-1797"/>
          <a:stretch>
            <a:fillRect/>
          </a:stretch>
        </p:blipFill>
        <p:spPr>
          <a:xfrm>
            <a:off x="10580083" y="2566128"/>
            <a:ext cx="5383722" cy="386627"/>
          </a:xfrm>
          <a:prstGeom prst="rect">
            <a:avLst/>
          </a:prstGeom>
        </p:spPr>
      </p:pic>
      <p:pic>
        <p:nvPicPr>
          <p:cNvPr id="97" name="Image 1">
            <a:extLst>
              <a:ext uri="{FF2B5EF4-FFF2-40B4-BE49-F238E27FC236}">
                <a16:creationId xmlns:a16="http://schemas.microsoft.com/office/drawing/2014/main" id="{091B0D73-CACE-5354-1042-BD1E3F4AD00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918" t="-3101" r="34784"/>
          <a:stretch>
            <a:fillRect/>
          </a:stretch>
        </p:blipFill>
        <p:spPr>
          <a:xfrm>
            <a:off x="11367326" y="3078283"/>
            <a:ext cx="3413904" cy="428999"/>
          </a:xfrm>
          <a:prstGeom prst="rect">
            <a:avLst/>
          </a:prstGeom>
        </p:spPr>
      </p:pic>
      <p:pic>
        <p:nvPicPr>
          <p:cNvPr id="98" name="Image 2">
            <a:extLst>
              <a:ext uri="{FF2B5EF4-FFF2-40B4-BE49-F238E27FC236}">
                <a16:creationId xmlns:a16="http://schemas.microsoft.com/office/drawing/2014/main" id="{808D7464-EE6F-AF3A-29A9-0DCA1F0AD0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762" t="-2507" r="31899"/>
          <a:stretch>
            <a:fillRect/>
          </a:stretch>
        </p:blipFill>
        <p:spPr>
          <a:xfrm>
            <a:off x="11141996" y="3621733"/>
            <a:ext cx="4021020" cy="421089"/>
          </a:xfrm>
          <a:prstGeom prst="rect">
            <a:avLst/>
          </a:prstGeom>
        </p:spPr>
      </p:pic>
      <p:pic>
        <p:nvPicPr>
          <p:cNvPr id="76" name="Picture 75" descr="The Greedy Loop diagram illustrates a decision-making process for managing a budget, where choices like 'Push back', 'Place', and 'Recompute' are made based on the current score, with a loop that repeats until the budget is exhaete.&#10;&#10;AI-generated content may be incorrect.">
            <a:extLst>
              <a:ext uri="{FF2B5EF4-FFF2-40B4-BE49-F238E27FC236}">
                <a16:creationId xmlns:a16="http://schemas.microsoft.com/office/drawing/2014/main" id="{6D3F84A7-B6C7-08AA-FAE1-7578D733257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241" t="8085" r="18959"/>
          <a:stretch>
            <a:fillRect/>
          </a:stretch>
        </p:blipFill>
        <p:spPr>
          <a:xfrm>
            <a:off x="2050806" y="6089236"/>
            <a:ext cx="4022022" cy="31620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71500"/>
            <a:ext cx="533400" cy="533400"/>
          </a:xfrm>
          <a:prstGeom prst="ellipse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33500" y="571500"/>
            <a:ext cx="2719239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Results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1070595"/>
            <a:ext cx="2719239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1500" y="1437308"/>
            <a:ext cx="17145000" cy="49530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4325" y="1437308"/>
            <a:ext cx="176593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132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Results</a:t>
            </a:r>
            <a:endParaRPr lang="en-US" sz="16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2746" y="2065958"/>
            <a:ext cx="9058498" cy="6583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1500" y="8744322"/>
            <a:ext cx="9992019" cy="499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ED wait time before and after equity-weighted allocation across 22 New Jersey hospitals, ordered by county Social Vulnerability Index. Assumes μ = 2.55 patients/hr per physician, C </a:t>
            </a:r>
            <a:r>
              <a:rPr lang="en-US" sz="1063" i="1" baseline="-400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 </a:t>
            </a:r>
            <a:r>
              <a:rPr lang="en-US" sz="1275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$120 per patient-hour, α = 2, B = 40 additional physicians.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10691589" y="2065958"/>
            <a:ext cx="7024836" cy="1362968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939239" y="2256458"/>
            <a:ext cx="718249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9FB9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WAIT TIME REDUCTION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10939239" y="2489820"/>
            <a:ext cx="7182490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308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41.30 minutes</a:t>
            </a:r>
            <a:endParaRPr lang="en-US" sz="3450" dirty="0"/>
          </a:p>
        </p:txBody>
      </p:sp>
      <p:sp>
        <p:nvSpPr>
          <p:cNvPr id="13" name="Text 10"/>
          <p:cNvSpPr/>
          <p:nvPr/>
        </p:nvSpPr>
        <p:spPr>
          <a:xfrm>
            <a:off x="10939239" y="2990776"/>
            <a:ext cx="7182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FB9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22 NJ hospitals</a:t>
            </a:r>
            <a:endParaRPr lang="en-US" sz="1425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11788229" y="3562276"/>
            <a:ext cx="4831482" cy="389356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691589" y="7589267"/>
            <a:ext cx="7727320" cy="256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point is one value of the equity weight α, at a fixed budget of 40 physicians.</a:t>
            </a:r>
            <a:endParaRPr lang="en-US" sz="1275" dirty="0"/>
          </a:p>
        </p:txBody>
      </p:sp>
      <p:sp>
        <p:nvSpPr>
          <p:cNvPr id="16" name="Shape 12"/>
          <p:cNvSpPr/>
          <p:nvPr/>
        </p:nvSpPr>
        <p:spPr>
          <a:xfrm>
            <a:off x="10691589" y="7941171"/>
            <a:ext cx="7024836" cy="1264741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0691589" y="7941171"/>
            <a:ext cx="57150" cy="1264741"/>
          </a:xfrm>
          <a:prstGeom prst="rect">
            <a:avLst/>
          </a:prstGeom>
          <a:solidFill>
            <a:srgbClr val="A35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10958289" y="8093571"/>
            <a:ext cx="6745044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927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Moving from α = 0 to α = 2 redirects five additional percentage points of the budget toward vulnerable counties at a cost of 0.1 minutes of mean wait reduction. The tradeoff commonly assumed between equity and efficiency is, in this network and at this budget, close to absent.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71500" y="9339263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71500" y="9482138"/>
            <a:ext cx="4252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7628989" y="9482138"/>
            <a:ext cx="16371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71500"/>
            <a:ext cx="533400" cy="533400"/>
          </a:xfrm>
          <a:prstGeom prst="ellipse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33500" y="571500"/>
            <a:ext cx="1402675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1070595"/>
            <a:ext cx="140267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1500" y="1437308"/>
            <a:ext cx="17145000" cy="49530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4325" y="1437308"/>
            <a:ext cx="176593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132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— What 41 Minutes Means at Scale</a:t>
            </a:r>
            <a:endParaRPr lang="en-US" sz="16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571500" y="2768203"/>
            <a:ext cx="10393635" cy="54216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1500" y="8987358"/>
            <a:ext cx="11432999" cy="256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Patient-hours of waiting eliminated per year, by facility. Navy bars are above-median-SVI counties.</a:t>
            </a:r>
            <a:endParaRPr lang="en-US" sz="1275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11346135" y="2447479"/>
            <a:ext cx="6370365" cy="37350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46135" y="6697489"/>
            <a:ext cx="7007401" cy="256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wait time across the network, before and after allocation.</a:t>
            </a:r>
            <a:endParaRPr lang="en-US" sz="1275" dirty="0"/>
          </a:p>
        </p:txBody>
      </p:sp>
      <p:sp>
        <p:nvSpPr>
          <p:cNvPr id="12" name="Shape 8"/>
          <p:cNvSpPr/>
          <p:nvPr/>
        </p:nvSpPr>
        <p:spPr>
          <a:xfrm>
            <a:off x="11346135" y="7049393"/>
            <a:ext cx="6370365" cy="162312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11346135" y="7049393"/>
            <a:ext cx="57150" cy="1623120"/>
          </a:xfrm>
          <a:prstGeom prst="rect">
            <a:avLst/>
          </a:prstGeom>
          <a:solidFill>
            <a:srgbClr val="A35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1631885" y="7220843"/>
            <a:ext cx="644161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INTERPRETATION</a:t>
            </a:r>
            <a:endParaRPr lang="en-US" sz="1125" dirty="0"/>
          </a:p>
        </p:txBody>
      </p:sp>
      <p:sp>
        <p:nvSpPr>
          <p:cNvPr id="15" name="Text 11"/>
          <p:cNvSpPr/>
          <p:nvPr/>
        </p:nvSpPr>
        <p:spPr>
          <a:xfrm>
            <a:off x="11631885" y="7473255"/>
            <a:ext cx="6031695" cy="1065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488"/>
              </a:lnSpc>
              <a:buNone/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41-minute mean reduction is not distributed evenly, and it is not a one-time saving. Scaled by each facility's arrival rate across a full year, it represents a substantial reduction in aggregate waiting burden concentrated in the counties least able to absorb it.</a:t>
            </a:r>
            <a:endParaRPr lang="en-US" sz="1425" dirty="0"/>
          </a:p>
        </p:txBody>
      </p:sp>
      <p:sp>
        <p:nvSpPr>
          <p:cNvPr id="16" name="Text 12"/>
          <p:cNvSpPr/>
          <p:nvPr/>
        </p:nvSpPr>
        <p:spPr>
          <a:xfrm>
            <a:off x="11346135" y="8805863"/>
            <a:ext cx="656147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25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figures are modeled projections under the stated assumptions (μ = 2.55 patients/hr, bed-share arrival rates, steady-state M/M/c), not measured outcomes.</a:t>
            </a:r>
            <a:endParaRPr lang="en-US" sz="1125" dirty="0"/>
          </a:p>
        </p:txBody>
      </p:sp>
      <p:sp>
        <p:nvSpPr>
          <p:cNvPr id="17" name="Shape 13"/>
          <p:cNvSpPr/>
          <p:nvPr/>
        </p:nvSpPr>
        <p:spPr>
          <a:xfrm>
            <a:off x="571500" y="9339263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71500" y="9482138"/>
            <a:ext cx="4252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17628989" y="9482138"/>
            <a:ext cx="16371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71500"/>
            <a:ext cx="533400" cy="533400"/>
          </a:xfrm>
          <a:prstGeom prst="ellipse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33500" y="571500"/>
            <a:ext cx="7610676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Conclusions, Limitations, Future Work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1070595"/>
            <a:ext cx="761067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1500" y="1513508"/>
            <a:ext cx="5460950" cy="45720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586" y="1513508"/>
            <a:ext cx="562477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ACHIEVED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673418" y="2104058"/>
            <a:ext cx="5516003" cy="787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26683" indent="-126683" algn="l">
              <a:lnSpc>
                <a:spcPct val="121953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Recovered unobservable physician capacity for 22 NJ emergency departments by inverting an M/M/c queue against public CMS wait-time data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673418" y="2967558"/>
            <a:ext cx="5516003" cy="787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26683" indent="-126683" algn="l">
              <a:lnSpc>
                <a:spcPct val="121953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Proved uniqueness of the implied-capacity solution and established a (1 − 1/e) approximation guarantee for the allocation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673418" y="3831059"/>
            <a:ext cx="5516003" cy="787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26683" indent="-126683" algn="l">
              <a:lnSpc>
                <a:spcPct val="121953"/>
              </a:lnSpc>
              <a:buSzPct val="100000"/>
              <a:buChar char="•"/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Achieved a </a:t>
            </a:r>
            <a:r>
              <a:rPr lang="en-US" sz="1425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41.30-minute </a:t>
            </a: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wait reduction while directing the majority of the benefit to above-median-vulnerability counties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673418" y="4694560"/>
            <a:ext cx="5516003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26683" indent="-126683" algn="l">
              <a:lnSpc>
                <a:spcPct val="121953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Showed the equity–efficiency tradeoff in this network costs 0.1 minutes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571500" y="6162749"/>
            <a:ext cx="54609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1500" y="6324674"/>
            <a:ext cx="342900" cy="342900"/>
          </a:xfrm>
          <a:prstGeom prst="rect">
            <a:avLst/>
          </a:prstGeom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463" y="6405637"/>
            <a:ext cx="180975" cy="18097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28700" y="6410399"/>
            <a:ext cx="248889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41.3 MIN MEAN REDUCTION</a:t>
            </a:r>
            <a:endParaRPr lang="en-US" sz="1125" dirty="0"/>
          </a:p>
        </p:txBody>
      </p:sp>
      <p:sp>
        <p:nvSpPr>
          <p:cNvPr id="16" name="Shape 13"/>
          <p:cNvSpPr/>
          <p:nvPr/>
        </p:nvSpPr>
        <p:spPr>
          <a:xfrm>
            <a:off x="571500" y="6781874"/>
            <a:ext cx="342900" cy="342900"/>
          </a:xfrm>
          <a:prstGeom prst="rect">
            <a:avLst/>
          </a:prstGeom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463" y="6862837"/>
            <a:ext cx="180975" cy="18097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28700" y="6867599"/>
            <a:ext cx="157833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EDS INVERTED</a:t>
            </a:r>
            <a:endParaRPr lang="en-US" sz="1125" dirty="0"/>
          </a:p>
        </p:txBody>
      </p:sp>
      <p:sp>
        <p:nvSpPr>
          <p:cNvPr id="19" name="Shape 15"/>
          <p:cNvSpPr/>
          <p:nvPr/>
        </p:nvSpPr>
        <p:spPr>
          <a:xfrm>
            <a:off x="571500" y="7239074"/>
            <a:ext cx="342900" cy="342900"/>
          </a:xfrm>
          <a:prstGeom prst="rect">
            <a:avLst/>
          </a:prstGeom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463" y="7320037"/>
            <a:ext cx="180975" cy="18097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28700" y="7324799"/>
            <a:ext cx="1929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 MIN EQUITY COST</a:t>
            </a:r>
            <a:endParaRPr lang="en-US" sz="1125" dirty="0"/>
          </a:p>
        </p:txBody>
      </p:sp>
      <p:sp>
        <p:nvSpPr>
          <p:cNvPr id="22" name="Shape 17"/>
          <p:cNvSpPr/>
          <p:nvPr/>
        </p:nvSpPr>
        <p:spPr>
          <a:xfrm>
            <a:off x="6413450" y="1513508"/>
            <a:ext cx="5461025" cy="45720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6331535" y="1513508"/>
            <a:ext cx="562485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425" dirty="0"/>
          </a:p>
        </p:txBody>
      </p:sp>
      <p:sp>
        <p:nvSpPr>
          <p:cNvPr id="24" name="Text 19"/>
          <p:cNvSpPr/>
          <p:nvPr/>
        </p:nvSpPr>
        <p:spPr>
          <a:xfrm>
            <a:off x="6515368" y="2104058"/>
            <a:ext cx="5435307" cy="3106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26683" indent="-126683" algn="l">
              <a:lnSpc>
                <a:spcPct val="121953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Arrival rates estimated by bed-share proxy, not measured directly</a:t>
            </a:r>
            <a:endParaRPr lang="en-US" sz="1425" dirty="0"/>
          </a:p>
          <a:p>
            <a:pPr marL="126683" indent="-126683" algn="l">
              <a:lnSpc>
                <a:spcPct val="121953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μ held constant, though Joseph et al. (2018) show physician productivity declines across a shift</a:t>
            </a:r>
            <a:endParaRPr lang="en-US" sz="1425" dirty="0"/>
          </a:p>
          <a:p>
            <a:pPr marL="126683" indent="-126683" algn="l">
              <a:lnSpc>
                <a:spcPct val="121953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M/M/c omits triage acuity classes, balking, and reneging</a:t>
            </a:r>
            <a:endParaRPr lang="en-US" sz="1425" dirty="0"/>
          </a:p>
          <a:p>
            <a:pPr marL="126683" indent="-126683" algn="l">
              <a:lnSpc>
                <a:spcPct val="121953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SVI measured at county level while hospitals are point locations</a:t>
            </a:r>
            <a:endParaRPr lang="en-US" sz="1425" dirty="0"/>
          </a:p>
          <a:p>
            <a:pPr marL="126683" indent="-126683" algn="l">
              <a:lnSpc>
                <a:spcPct val="121953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Mortality evidence linking wait time to harm is associational, not causal</a:t>
            </a:r>
            <a:endParaRPr lang="en-US" sz="1425" dirty="0"/>
          </a:p>
          <a:p>
            <a:pPr marL="126683" indent="-126683" algn="l">
              <a:lnSpc>
                <a:spcPct val="121953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impact figures are modeled projections, not measured outcomes</a:t>
            </a:r>
            <a:endParaRPr lang="en-US" sz="1425" dirty="0"/>
          </a:p>
        </p:txBody>
      </p:sp>
      <p:sp>
        <p:nvSpPr>
          <p:cNvPr id="25" name="Shape 20"/>
          <p:cNvSpPr/>
          <p:nvPr/>
        </p:nvSpPr>
        <p:spPr>
          <a:xfrm>
            <a:off x="6413450" y="6162749"/>
            <a:ext cx="5461025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413450" y="6324674"/>
            <a:ext cx="342900" cy="342900"/>
          </a:xfrm>
          <a:prstGeom prst="rect">
            <a:avLst/>
          </a:prstGeom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4413" y="6405637"/>
            <a:ext cx="180975" cy="18097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70650" y="6410399"/>
            <a:ext cx="205850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PROXY ARRIVAL RATES</a:t>
            </a:r>
            <a:endParaRPr lang="en-US" sz="1125" dirty="0"/>
          </a:p>
        </p:txBody>
      </p:sp>
      <p:sp>
        <p:nvSpPr>
          <p:cNvPr id="29" name="Shape 23"/>
          <p:cNvSpPr/>
          <p:nvPr/>
        </p:nvSpPr>
        <p:spPr>
          <a:xfrm>
            <a:off x="6413450" y="6781874"/>
            <a:ext cx="342900" cy="342900"/>
          </a:xfrm>
          <a:prstGeom prst="rect">
            <a:avLst/>
          </a:prstGeom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413" y="6862837"/>
            <a:ext cx="180975" cy="18097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870650" y="6867599"/>
            <a:ext cx="16707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Μ HELD CONSTANT</a:t>
            </a:r>
            <a:endParaRPr lang="en-US" sz="1125" dirty="0"/>
          </a:p>
        </p:txBody>
      </p:sp>
      <p:sp>
        <p:nvSpPr>
          <p:cNvPr id="32" name="Shape 25"/>
          <p:cNvSpPr/>
          <p:nvPr/>
        </p:nvSpPr>
        <p:spPr>
          <a:xfrm>
            <a:off x="6413450" y="7239074"/>
            <a:ext cx="342900" cy="342900"/>
          </a:xfrm>
          <a:prstGeom prst="rect">
            <a:avLst/>
          </a:prstGeom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94413" y="7320037"/>
            <a:ext cx="180975" cy="18097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70650" y="7324799"/>
            <a:ext cx="17258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COUNTY-LEVEL SVI</a:t>
            </a:r>
            <a:endParaRPr lang="en-US" sz="1125" dirty="0"/>
          </a:p>
        </p:txBody>
      </p:sp>
      <p:sp>
        <p:nvSpPr>
          <p:cNvPr id="35" name="Shape 27"/>
          <p:cNvSpPr/>
          <p:nvPr/>
        </p:nvSpPr>
        <p:spPr>
          <a:xfrm>
            <a:off x="12255475" y="1513508"/>
            <a:ext cx="5460950" cy="45720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12173561" y="1513508"/>
            <a:ext cx="562477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425" dirty="0"/>
          </a:p>
        </p:txBody>
      </p:sp>
      <p:sp>
        <p:nvSpPr>
          <p:cNvPr id="37" name="Shape 29"/>
          <p:cNvSpPr/>
          <p:nvPr/>
        </p:nvSpPr>
        <p:spPr>
          <a:xfrm>
            <a:off x="12255475" y="2104058"/>
            <a:ext cx="323850" cy="32385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/>
          <p:nvPr/>
        </p:nvSpPr>
        <p:spPr>
          <a:xfrm>
            <a:off x="12217375" y="2104058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12750775" y="2104058"/>
            <a:ext cx="54622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Time-varying service rate</a:t>
            </a:r>
            <a:endParaRPr lang="en-US" sz="1650" dirty="0"/>
          </a:p>
        </p:txBody>
      </p:sp>
      <p:sp>
        <p:nvSpPr>
          <p:cNvPr id="40" name="Text 32"/>
          <p:cNvSpPr/>
          <p:nvPr/>
        </p:nvSpPr>
        <p:spPr>
          <a:xfrm>
            <a:off x="12750775" y="2404095"/>
            <a:ext cx="5114620" cy="787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53"/>
              </a:lnSpc>
              <a:buNone/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 the constant μ with a within-shift decay profile, so implied capacity is recovered against the productivity curve Joseph et al. (2018) measure rather than a flat average.</a:t>
            </a:r>
            <a:endParaRPr lang="en-US" sz="1425" dirty="0"/>
          </a:p>
        </p:txBody>
      </p:sp>
      <p:sp>
        <p:nvSpPr>
          <p:cNvPr id="41" name="Shape 33"/>
          <p:cNvSpPr/>
          <p:nvPr/>
        </p:nvSpPr>
        <p:spPr>
          <a:xfrm>
            <a:off x="12255475" y="3362846"/>
            <a:ext cx="323850" cy="32385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12217375" y="3362846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50" dirty="0"/>
          </a:p>
        </p:txBody>
      </p:sp>
      <p:sp>
        <p:nvSpPr>
          <p:cNvPr id="43" name="Text 35"/>
          <p:cNvSpPr/>
          <p:nvPr/>
        </p:nvSpPr>
        <p:spPr>
          <a:xfrm>
            <a:off x="12750775" y="3362846"/>
            <a:ext cx="54622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 beyond New Jersey</a:t>
            </a:r>
            <a:endParaRPr lang="en-US" sz="1650" dirty="0"/>
          </a:p>
        </p:txBody>
      </p:sp>
      <p:sp>
        <p:nvSpPr>
          <p:cNvPr id="44" name="Text 36"/>
          <p:cNvSpPr/>
          <p:nvPr/>
        </p:nvSpPr>
        <p:spPr>
          <a:xfrm>
            <a:off x="12750775" y="3662883"/>
            <a:ext cx="5114620" cy="1037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53"/>
              </a:lnSpc>
              <a:buNone/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inversion needs only CMS wait times, bed counts and county volumes, all of which exist nationally — so the method generalizes state by state, and can be validated wherever staffing is actually reported.</a:t>
            </a:r>
            <a:endParaRPr lang="en-US" sz="1425" dirty="0"/>
          </a:p>
        </p:txBody>
      </p:sp>
      <p:sp>
        <p:nvSpPr>
          <p:cNvPr id="45" name="Shape 37"/>
          <p:cNvSpPr/>
          <p:nvPr/>
        </p:nvSpPr>
        <p:spPr>
          <a:xfrm>
            <a:off x="12255475" y="6162749"/>
            <a:ext cx="54609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/>
          <p:nvPr/>
        </p:nvSpPr>
        <p:spPr>
          <a:xfrm>
            <a:off x="12255475" y="6324674"/>
            <a:ext cx="342900" cy="342900"/>
          </a:xfrm>
          <a:prstGeom prst="rect">
            <a:avLst/>
          </a:prstGeom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336438" y="6405637"/>
            <a:ext cx="180975" cy="180975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2712675" y="6410399"/>
            <a:ext cx="173394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>
              <a:lnSpc>
                <a:spcPct val="102857"/>
              </a:lnSpc>
            </a:pPr>
            <a:r>
              <a:rPr lang="el-GR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μ</a:t>
            </a:r>
            <a:r>
              <a:rPr lang="en-US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(T) WITHIN SHIFT</a:t>
            </a:r>
            <a:endParaRPr lang="en-US" sz="1125" dirty="0"/>
          </a:p>
        </p:txBody>
      </p:sp>
      <p:sp>
        <p:nvSpPr>
          <p:cNvPr id="49" name="Shape 40"/>
          <p:cNvSpPr/>
          <p:nvPr/>
        </p:nvSpPr>
        <p:spPr>
          <a:xfrm>
            <a:off x="12255475" y="6781874"/>
            <a:ext cx="342900" cy="342900"/>
          </a:xfrm>
          <a:prstGeom prst="rect">
            <a:avLst/>
          </a:prstGeom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336438" y="6862837"/>
            <a:ext cx="180975" cy="180975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12712675" y="6867599"/>
            <a:ext cx="181359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ROLLOUT</a:t>
            </a:r>
            <a:endParaRPr lang="en-US" sz="1125" dirty="0"/>
          </a:p>
        </p:txBody>
      </p:sp>
      <p:sp>
        <p:nvSpPr>
          <p:cNvPr id="52" name="Shape 42"/>
          <p:cNvSpPr/>
          <p:nvPr/>
        </p:nvSpPr>
        <p:spPr>
          <a:xfrm>
            <a:off x="12255475" y="7239074"/>
            <a:ext cx="342900" cy="342900"/>
          </a:xfrm>
          <a:prstGeom prst="rect">
            <a:avLst/>
          </a:prstGeom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336438" y="7320037"/>
            <a:ext cx="180975" cy="180975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12712675" y="7324799"/>
            <a:ext cx="18821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WAGE-CONSTRAINED</a:t>
            </a:r>
            <a:endParaRPr lang="en-US" sz="1125" dirty="0"/>
          </a:p>
        </p:txBody>
      </p:sp>
      <p:sp>
        <p:nvSpPr>
          <p:cNvPr id="55" name="Shape 44"/>
          <p:cNvSpPr/>
          <p:nvPr/>
        </p:nvSpPr>
        <p:spPr>
          <a:xfrm>
            <a:off x="571500" y="7791524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45"/>
          <p:cNvSpPr/>
          <p:nvPr/>
        </p:nvSpPr>
        <p:spPr>
          <a:xfrm>
            <a:off x="571500" y="7915349"/>
            <a:ext cx="18859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1050" dirty="0"/>
          </a:p>
        </p:txBody>
      </p:sp>
      <p:sp>
        <p:nvSpPr>
          <p:cNvPr id="57" name="Text 46"/>
          <p:cNvSpPr/>
          <p:nvPr/>
        </p:nvSpPr>
        <p:spPr>
          <a:xfrm>
            <a:off x="571500" y="8153474"/>
            <a:ext cx="146745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50" dirty="0"/>
          </a:p>
        </p:txBody>
      </p:sp>
      <p:sp>
        <p:nvSpPr>
          <p:cNvPr id="58" name="Text 47"/>
          <p:cNvSpPr/>
          <p:nvPr/>
        </p:nvSpPr>
        <p:spPr>
          <a:xfrm>
            <a:off x="718245" y="8153474"/>
            <a:ext cx="5499845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Singer AJ, Thode HC Jr, Viccellio P, Pines JM. The association between length of emergency department boarding and mortality. </a:t>
            </a:r>
            <a:r>
              <a:rPr lang="en-US" sz="1050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 Emerg Med. </a:t>
            </a: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2011;18(12):1324–1329.</a:t>
            </a:r>
            <a:endParaRPr lang="en-US" sz="1050" dirty="0"/>
          </a:p>
        </p:txBody>
      </p:sp>
      <p:sp>
        <p:nvSpPr>
          <p:cNvPr id="59" name="Text 48"/>
          <p:cNvSpPr/>
          <p:nvPr/>
        </p:nvSpPr>
        <p:spPr>
          <a:xfrm>
            <a:off x="6400800" y="8153474"/>
            <a:ext cx="146745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50" dirty="0"/>
          </a:p>
        </p:txBody>
      </p:sp>
      <p:sp>
        <p:nvSpPr>
          <p:cNvPr id="60" name="Text 49"/>
          <p:cNvSpPr/>
          <p:nvPr/>
        </p:nvSpPr>
        <p:spPr>
          <a:xfrm>
            <a:off x="6547545" y="8153474"/>
            <a:ext cx="5499845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Roussel M, Teissandier D, Yordanov Y, et al. Overnight stay in the emergency department and mortality in older patients. </a:t>
            </a:r>
            <a:r>
              <a:rPr lang="en-US" sz="1050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JAMA Intern Med. </a:t>
            </a: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2023;183(12):1378–1385.</a:t>
            </a:r>
            <a:endParaRPr lang="en-US" sz="1050" dirty="0"/>
          </a:p>
        </p:txBody>
      </p:sp>
      <p:sp>
        <p:nvSpPr>
          <p:cNvPr id="61" name="Text 50"/>
          <p:cNvSpPr/>
          <p:nvPr/>
        </p:nvSpPr>
        <p:spPr>
          <a:xfrm>
            <a:off x="12230100" y="8153474"/>
            <a:ext cx="146745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50" dirty="0"/>
          </a:p>
        </p:txBody>
      </p:sp>
      <p:sp>
        <p:nvSpPr>
          <p:cNvPr id="62" name="Text 51"/>
          <p:cNvSpPr/>
          <p:nvPr/>
        </p:nvSpPr>
        <p:spPr>
          <a:xfrm>
            <a:off x="12376845" y="8153474"/>
            <a:ext cx="5499845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Augustine JJ. More advanced practice providers working in emergency departments. </a:t>
            </a:r>
            <a:r>
              <a:rPr lang="en-US" sz="1050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ACEP Now. </a:t>
            </a: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2017;36(9).</a:t>
            </a:r>
            <a:endParaRPr lang="en-US" sz="1050" dirty="0"/>
          </a:p>
        </p:txBody>
      </p:sp>
      <p:sp>
        <p:nvSpPr>
          <p:cNvPr id="63" name="Text 52"/>
          <p:cNvSpPr/>
          <p:nvPr/>
        </p:nvSpPr>
        <p:spPr>
          <a:xfrm>
            <a:off x="571500" y="8769697"/>
            <a:ext cx="14674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50" dirty="0"/>
          </a:p>
        </p:txBody>
      </p:sp>
      <p:sp>
        <p:nvSpPr>
          <p:cNvPr id="64" name="Text 53"/>
          <p:cNvSpPr/>
          <p:nvPr/>
        </p:nvSpPr>
        <p:spPr>
          <a:xfrm>
            <a:off x="718245" y="8769697"/>
            <a:ext cx="549984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Joseph JW, Davis S, Wilker EH, et al. Modelling attending physician productivity in the emergency department: a multicentre study. </a:t>
            </a:r>
            <a:r>
              <a:rPr lang="en-US" sz="1050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 Med J. </a:t>
            </a: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2018;35(5):317–322.</a:t>
            </a:r>
            <a:endParaRPr lang="en-US" sz="1050" dirty="0"/>
          </a:p>
        </p:txBody>
      </p:sp>
      <p:sp>
        <p:nvSpPr>
          <p:cNvPr id="65" name="Text 54"/>
          <p:cNvSpPr/>
          <p:nvPr/>
        </p:nvSpPr>
        <p:spPr>
          <a:xfrm>
            <a:off x="6400800" y="8769697"/>
            <a:ext cx="14674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50" dirty="0"/>
          </a:p>
        </p:txBody>
      </p:sp>
      <p:sp>
        <p:nvSpPr>
          <p:cNvPr id="66" name="Text 55"/>
          <p:cNvSpPr/>
          <p:nvPr/>
        </p:nvSpPr>
        <p:spPr>
          <a:xfrm>
            <a:off x="6547545" y="8769697"/>
            <a:ext cx="549984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Nemhauser GL, Wolsey LA, Fisher ML. An analysis of approximations for maximizing submodular set functions. </a:t>
            </a:r>
            <a:r>
              <a:rPr lang="en-US" sz="1050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 Program. </a:t>
            </a: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1978;14(1):265–294.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12230100" y="8769697"/>
            <a:ext cx="14674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50" dirty="0"/>
          </a:p>
        </p:txBody>
      </p:sp>
      <p:sp>
        <p:nvSpPr>
          <p:cNvPr id="68" name="Text 57"/>
          <p:cNvSpPr/>
          <p:nvPr/>
        </p:nvSpPr>
        <p:spPr>
          <a:xfrm>
            <a:off x="12376845" y="8769697"/>
            <a:ext cx="549984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Data: CMS OP_18b; HCRIS 2023; NJSHAD county ED volumes; CDC/ATSDR Social Vulnerability Index.</a:t>
            </a:r>
            <a:endParaRPr lang="en-US" sz="1050" dirty="0"/>
          </a:p>
        </p:txBody>
      </p:sp>
      <p:sp>
        <p:nvSpPr>
          <p:cNvPr id="69" name="Shape 58"/>
          <p:cNvSpPr/>
          <p:nvPr/>
        </p:nvSpPr>
        <p:spPr>
          <a:xfrm>
            <a:off x="571500" y="9339263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59"/>
          <p:cNvSpPr/>
          <p:nvPr/>
        </p:nvSpPr>
        <p:spPr>
          <a:xfrm>
            <a:off x="571500" y="9482138"/>
            <a:ext cx="4252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350" dirty="0"/>
          </a:p>
        </p:txBody>
      </p:sp>
      <p:sp>
        <p:nvSpPr>
          <p:cNvPr id="71" name="Text 60"/>
          <p:cNvSpPr/>
          <p:nvPr/>
        </p:nvSpPr>
        <p:spPr>
          <a:xfrm>
            <a:off x="17628989" y="9482138"/>
            <a:ext cx="16371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71500"/>
            <a:ext cx="533400" cy="533400"/>
          </a:xfrm>
          <a:prstGeom prst="ellipse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33500" y="571500"/>
            <a:ext cx="6717305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for Hospital Networks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1070595"/>
            <a:ext cx="671730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1500" y="1551608"/>
            <a:ext cx="17145000" cy="49530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4325" y="1551608"/>
            <a:ext cx="176593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132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Model to Tool 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71500" y="9339263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1500" y="9482138"/>
            <a:ext cx="4252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7628989" y="9482138"/>
            <a:ext cx="16371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350" dirty="0"/>
          </a:p>
        </p:txBody>
      </p:sp>
      <p:pic>
        <p:nvPicPr>
          <p:cNvPr id="22" name="Picture 21" descr="The image displays an allocation console with a summary of physician distribution, facility status, and patient wait time savings, with various hospitals and their respective metrics.&#10;&#10;AI-generated content may be incorrect.">
            <a:hlinkClick r:id="rId3"/>
            <a:extLst>
              <a:ext uri="{FF2B5EF4-FFF2-40B4-BE49-F238E27FC236}">
                <a16:creationId xmlns:a16="http://schemas.microsoft.com/office/drawing/2014/main" id="{377D3303-7B4C-A4EB-7BB5-674E8A126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664" y="2256458"/>
            <a:ext cx="13406576" cy="68104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71500"/>
            <a:ext cx="533400" cy="533400"/>
          </a:xfrm>
          <a:prstGeom prst="ellipse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33500" y="571500"/>
            <a:ext cx="15758160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&amp; Resources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1070595"/>
            <a:ext cx="1575816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71500" y="1551608"/>
            <a:ext cx="9700989" cy="7540005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009650" y="4457179"/>
            <a:ext cx="18097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9650" y="3980929"/>
            <a:ext cx="1885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19400" y="4457179"/>
            <a:ext cx="7014939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19400" y="3980929"/>
            <a:ext cx="72253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Rithvik Sharma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009650" y="5019154"/>
            <a:ext cx="18097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9650" y="4619104"/>
            <a:ext cx="1885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19400" y="5019154"/>
            <a:ext cx="7014939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19400" y="4619104"/>
            <a:ext cx="72253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dirty="0"/>
              <a:t>rs20psr@gmail.com</a:t>
            </a:r>
          </a:p>
        </p:txBody>
      </p:sp>
      <p:sp>
        <p:nvSpPr>
          <p:cNvPr id="18" name="Shape 16"/>
          <p:cNvSpPr/>
          <p:nvPr/>
        </p:nvSpPr>
        <p:spPr>
          <a:xfrm>
            <a:off x="1009650" y="5581129"/>
            <a:ext cx="18097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9650" y="5181079"/>
            <a:ext cx="1885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19400" y="5581129"/>
            <a:ext cx="7014939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19400" y="5181079"/>
            <a:ext cx="72253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r>
              <a:rPr lang="en-US" sz="1725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https://github.com/RithvikS1/ed-allocation-research.git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009650" y="6195492"/>
            <a:ext cx="18097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9650" y="5743054"/>
            <a:ext cx="18859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19400" y="6195492"/>
            <a:ext cx="7014939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819400" y="5743054"/>
            <a:ext cx="722538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Professor Padhu Seshaiyer, George Mason University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1009650" y="6357417"/>
            <a:ext cx="1885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19400" y="6357417"/>
            <a:ext cx="722538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— Mathematical Research and Innovations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10691589" y="1551608"/>
            <a:ext cx="7024836" cy="7540005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3070532" y="3926160"/>
            <a:ext cx="2266950" cy="2266950"/>
          </a:xfrm>
          <a:prstGeom prst="rect">
            <a:avLst/>
          </a:prstGeom>
          <a:ln w="9525">
            <a:solidFill>
              <a:srgbClr val="9FB9D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882464" y="4819650"/>
            <a:ext cx="71913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2927"/>
              </a:lnSpc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QR code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3739589" y="5059635"/>
            <a:ext cx="1004962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2927"/>
              </a:lnSpc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placeholder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2893509" y="6862533"/>
            <a:ext cx="3076754" cy="374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100" b="1" kern="0" spc="126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for Web App! </a:t>
            </a:r>
          </a:p>
          <a:p>
            <a:pPr marL="0" indent="0" algn="l">
              <a:buNone/>
            </a:pPr>
            <a:endParaRPr lang="en-US" sz="2100" b="1" kern="0" spc="126" dirty="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71500" y="9339263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71500" y="9482138"/>
            <a:ext cx="4252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7541553" y="9482138"/>
            <a:ext cx="251147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50" dirty="0"/>
          </a:p>
        </p:txBody>
      </p:sp>
      <p:pic>
        <p:nvPicPr>
          <p:cNvPr id="29" name="Picture 28" descr="The image is a QR code with a blue background and a white QR code pattern.&#10;&#10;AI-generated content may be incorrect.">
            <a:extLst>
              <a:ext uri="{FF2B5EF4-FFF2-40B4-BE49-F238E27FC236}">
                <a16:creationId xmlns:a16="http://schemas.microsoft.com/office/drawing/2014/main" id="{322DE512-B840-FA2F-E938-3974B1B0F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5279" y="2239475"/>
            <a:ext cx="4413508" cy="4413508"/>
          </a:xfrm>
          <a:prstGeom prst="rect">
            <a:avLst/>
          </a:prstGeom>
        </p:spPr>
      </p:pic>
      <p:pic>
        <p:nvPicPr>
          <p:cNvPr id="8" name="Picture 7" descr="The image shows a pair of black smartphones with their respective cases, and a directional arrow pointing downwards.&#10;&#10;AI-generated content may be incorrect.">
            <a:extLst>
              <a:ext uri="{FF2B5EF4-FFF2-40B4-BE49-F238E27FC236}">
                <a16:creationId xmlns:a16="http://schemas.microsoft.com/office/drawing/2014/main" id="{B5DF6608-52FB-DF13-B7AE-4F87FA531CA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13362918" y="7183614"/>
            <a:ext cx="2137936" cy="21379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2165</Words>
  <Application>Microsoft Office PowerPoint</Application>
  <PresentationFormat>Custom</PresentationFormat>
  <Paragraphs>261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Rithvik Sharma</cp:lastModifiedBy>
  <cp:revision>5</cp:revision>
  <dcterms:created xsi:type="dcterms:W3CDTF">2026-08-08T20:10:40Z</dcterms:created>
  <dcterms:modified xsi:type="dcterms:W3CDTF">2026-08-09T16:17:07Z</dcterms:modified>
</cp:coreProperties>
</file>